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1F4E79"/>
                </a:solidFill>
                <a:latin typeface="Noto Sans CJK JP"/>
              </a:rPr>
              <a:t>ビタミンEの出口濃度は
どの反応で決まっているか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666666"/>
                </a:solidFill>
                <a:latin typeface="Noto Sans CJK JP"/>
              </a:rPr>
              <a:t>競争吸着モデル v4　─　反応の一覧、数値の決め方、出口への効き方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2026-08-18  |  廣森先生の論文の反応式を実装  |  データ合わせは加水分解の速さと吸着量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この資料で使う言葉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先に略語だけ揃えます。以降は短い名前で呼びます。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669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128016" cy="868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6187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VE1 / 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ビタミンEのα体（トコフェロールαなど）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188720"/>
            <a:ext cx="5669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188720"/>
            <a:ext cx="128016" cy="8686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26187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VE2 / 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600200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ビタミンEのγ体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48840"/>
            <a:ext cx="5669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2148840"/>
            <a:ext cx="128016" cy="868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22199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FA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560320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脂肪酸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148840"/>
            <a:ext cx="5669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148840"/>
            <a:ext cx="128016" cy="8686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22199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FAEE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560320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脂肪酸エチルエステル（原料中のエステル）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108960"/>
            <a:ext cx="5669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108960"/>
            <a:ext cx="128016" cy="868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18211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k_f / k_r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520440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前向きの速さ / 逆向きの速さ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108960"/>
            <a:ext cx="5669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108960"/>
            <a:ext cx="128016" cy="8686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18211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Keq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520440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平衡の定数。逆向きの速さは k_r = k_f / Keq で決まる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069080"/>
            <a:ext cx="5669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069080"/>
            <a:ext cx="128016" cy="868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4223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フィット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480560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実データに合わせて数値を動かすこと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4069080"/>
            <a:ext cx="5669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4069080"/>
            <a:ext cx="128016" cy="8686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14223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固定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480560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論文やこれまでの検討の値を、そのまま使うこと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5029200"/>
            <a:ext cx="5669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029200"/>
            <a:ext cx="128016" cy="868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10235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出口の山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40680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塔出口の濃度が、入口より高くなるピーク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5029200"/>
            <a:ext cx="5669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63640" y="5029200"/>
            <a:ext cx="128016" cy="8686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510235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Noto Sans CJK JP"/>
              </a:rPr>
              <a:t>q_total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5440680"/>
            <a:ext cx="5212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樹脂が持てる吸着量の上限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先に結論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このあと詳しく見ますが、伝えたいことは4つです。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399032"/>
            <a:ext cx="548640" cy="54864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9047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34416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反応は7つ。データで動かしている速さは加水分解だけ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7335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Noto Sans CJK JP"/>
              </a:rPr>
              <a:t>吸着と交換の速さは、論文またはこれまでの検討の値をそのまま使います。吸着量の上限もデータに合わせています。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40280"/>
            <a:ext cx="11277295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2404872"/>
            <a:ext cx="548640" cy="54864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9631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5000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出口の山は、樹脂に付いたビタミンEが追い出されて液に戻ることでできる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67919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Noto Sans CJK JP"/>
              </a:rPr>
              <a:t>吸着だけでは入口付近で止まります。山を高くするのは、加水分解 → 脂肪酸吸着 → 追い出し、の順です。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46120"/>
            <a:ext cx="11277295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3410712"/>
            <a:ext cx="548640" cy="5486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0215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35584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出る順番は平衡、γ の高さは E3、α の高さはまだ足りない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68503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Noto Sans CJK JP"/>
              </a:rPr>
              <a:t>平衡を分けると時刻がずれます。E3 で γ が高くなります。交換を速くしても α はほとんど上がりません。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51960"/>
            <a:ext cx="11277295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416552"/>
            <a:ext cx="548640" cy="54864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0799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36168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R004A の加水分解の速さ 0.01 は上限で、いちばんよい値ではありません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69087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Noto Sans CJK JP"/>
              </a:rPr>
              <a:t>出口の誤差を小さくするために上限に当たっています。後段でビタミンEを取る目的とは逆です。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7つの反応（全体像）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吸着3つ、取り合い3つ、液の中の分解1つ</a:t>
            </a:r>
          </a:p>
        </p:txBody>
      </p:sp>
      <p:pic>
        <p:nvPicPr>
          <p:cNvPr id="5" name="Picture 4" descr="ve_reac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11338560" cy="4709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Noto Sans CJK JP"/>
              </a:rPr>
              <a:t>E3 は論文にない反応です。速さの定数でデータに合わせているのは、加水分解 k_hyd だけです。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7つの反応は、何をしているか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吸着3つ、取り合い3つ（E3は論文にない）、加水分解1つ。逆向きの速さは別に置かず、k_r = k_f / Keq で計算します。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3749039" cy="384048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3566159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JP"/>
              </a:rPr>
              <a:t>樹脂への吸着（固体と液体のあいだ）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737360"/>
            <a:ext cx="3749039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5488" y="1874520"/>
            <a:ext cx="384048" cy="38404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901952"/>
            <a:ext cx="38404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847088"/>
            <a:ext cx="3063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VE1 + S⁺OH⁻ ⇌ S⁺VE1⁻ + OH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423160"/>
            <a:ext cx="3419855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α が樹脂に付く。あとで山になる「溜まり」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218688"/>
            <a:ext cx="3749039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5488" y="3355848"/>
            <a:ext cx="384048" cy="38404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3383280"/>
            <a:ext cx="38404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A2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328416"/>
            <a:ext cx="3063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VE2 + S⁺OH⁻ ⇌ S⁺VE2⁻ + OH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04488"/>
            <a:ext cx="3419855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γ が樹脂に付く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700016"/>
            <a:ext cx="3749039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5488" y="4837176"/>
            <a:ext cx="384048" cy="38404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864608"/>
            <a:ext cx="38404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A3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809744"/>
            <a:ext cx="3063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FA + S⁺OH⁻ ⇌ S⁺FA⁻ + OH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5385816"/>
            <a:ext cx="3419855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脂肪酸が樹脂に付く。このあと取り合いのきっかけになる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1" y="1234440"/>
            <a:ext cx="3749039" cy="384048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0831" y="1261872"/>
            <a:ext cx="3566159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JP"/>
              </a:rPr>
              <a:t>取り合い（交換）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1" y="1737360"/>
            <a:ext cx="3749039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89119" y="1874520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19" y="1901952"/>
            <a:ext cx="38404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E1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19" y="1847088"/>
            <a:ext cx="3063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FA(液) + VE1* ⇌ FA* + VE1(液)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3" y="2423160"/>
            <a:ext cx="3419855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脂肪酸が α を追い出し、出口へ出す（α の主経路）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1" y="3218688"/>
            <a:ext cx="3749039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19" y="3355848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19" y="3383280"/>
            <a:ext cx="38404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E2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19" y="3328416"/>
            <a:ext cx="3063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FA(液) + VE2* ⇌ FA* + VE2(液)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3983" y="3904488"/>
            <a:ext cx="3419855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脂肪酸が γ を追い出し、出口へ出す（γ の主経路）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79391" y="4700016"/>
            <a:ext cx="3749039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19" y="4837176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19" y="4864608"/>
            <a:ext cx="38404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E3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19" y="4809744"/>
            <a:ext cx="30632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VE2(液) + VE1* ⇌ VE2* + VE1(液)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43983" y="5385816"/>
            <a:ext cx="3419855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脂肪酸より先に、γ が α を出す（論文にない反応）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22" y="1234440"/>
            <a:ext cx="3794760" cy="384048"/>
          </a:xfrm>
          <a:prstGeom prst="roundRect">
            <a:avLst>
              <a:gd name="adj" fmla="val 10000"/>
            </a:avLst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84462" y="1261872"/>
            <a:ext cx="3611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JP"/>
              </a:rPr>
              <a:t>液の中の反応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93022" y="1737360"/>
            <a:ext cx="37947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302750" y="1874520"/>
            <a:ext cx="384048" cy="384048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02750" y="1901952"/>
            <a:ext cx="38404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9950" y="1847088"/>
            <a:ext cx="3108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FAEE + OH ⇌ FA + 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57614" y="2423160"/>
            <a:ext cx="3465576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D2D2D"/>
                </a:solidFill>
                <a:latin typeface="Noto Sans CJK JP"/>
              </a:rPr>
              <a:t>FAEE が分解して脂肪酸が増える（速さ k_hyd だけデータ合わせ）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6126480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使っていない向き（前向きの速さ = 0）：液の VE1→樹脂の VE2、液の VE1→樹脂の FA、液の VE2→樹脂の FA。反対向きは、各反応の k_r として自動で入ります。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数値の決め方：動かすものと、そのまま使うもの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データに合わせて動かしているのは、吸着量 q_total と、加水分解の速さ k_hyd だけです。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2788920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278892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53312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データで合わせる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965960"/>
            <a:ext cx="24688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・加水分解の速さ k_hyd
・吸着量の上限 q_total
・R003 の k_hyd は範囲の内側
・R004A の k_hyd は上限に当たっている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280160"/>
            <a:ext cx="2788920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280160"/>
            <a:ext cx="278892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353312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論文の値を使う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1965960"/>
            <a:ext cx="24688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・VE の吸着速さ 0.5838
・脂肪酸の吸着速さ 6.78
・脂肪酸の平衡 412
・単位換算：論文の k × 60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80160"/>
            <a:ext cx="2788920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280160"/>
            <a:ext cx="27889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353312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検討して決めた値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965960"/>
            <a:ext cx="24688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・α と γ の差 r=1.7
・脂肪酸の交換速さは論文の2倍
・E3 の速さ 0.6、平衡 1.7
・加水分解の平衡 3.0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280160"/>
            <a:ext cx="2788920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1280160"/>
            <a:ext cx="2788920" cy="50292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353312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逆向きの速さ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92" y="1965960"/>
            <a:ext cx="24688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D2D2D"/>
                </a:solidFill>
                <a:latin typeface="Noto Sans CJK JP"/>
              </a:rPr>
              <a:t>・反対方向の k_f は置かない
・逆向きは k_r = k_f / Keq
・同じ反応を2本にしない
・分配係数 H も動かしていない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76072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Noto Sans CJK JP"/>
              </a:rPr>
              <a:t>速さ k の単位は cm³ mmol⁻¹ min⁻¹。Keq に単位はありません。最新の合わせ込みは 2026-08-13。R004A の k_hyd は上限です。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吸着と交換で使っている値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これらは「一番よい値」ではなく、論文または検討で決めて固定しています。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2011680"/>
                <a:gridCol w="1828800"/>
                <a:gridCol w="3840480"/>
              </a:tblGrid>
              <a:tr h="55880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定数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扱い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論文の値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いま使っている値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意味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588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VE の吸着速さ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0.5838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0.5838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α と γ で分けない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脂肪酸の吸着速さ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6.78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6.78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以前の 0.58 から論文値へ変更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VE の吸着平衡 α / 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47.4 / 47.4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36.3 / 61.8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差 r=1.7 を採用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脂肪酸の吸着平衡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412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412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論文どおり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脂肪酸が VE を出す速さ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2.55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論文の2倍。これ以上速くしても効かない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その交換の平衡 α / 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324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422 / 248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弱い α のほうが脂肪酸に出やすい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γ が α を出す速さ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なし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0.3〜1.0 の試験の中央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その交換の平衡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なし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r と同じ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データに合わせて動かした値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反応の速さで動かしているのは、加水分解 k_hyd だけです。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25880"/>
            <a:ext cx="278892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2788920" cy="14630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91640"/>
            <a:ext cx="27889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70AD47"/>
                </a:solidFill>
                <a:latin typeface="Noto Sans CJK JP"/>
              </a:rPr>
              <a:t>0.00346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k_hyd  R003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91840"/>
            <a:ext cx="2423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Noto Sans CJK JP"/>
              </a:rPr>
              <a:t>決めた範囲の内側
以前は 0.00290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325880"/>
            <a:ext cx="278892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325880"/>
            <a:ext cx="2788920" cy="14630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691640"/>
            <a:ext cx="27889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C0392B"/>
                </a:solidFill>
                <a:latin typeface="Noto Sans CJK JP"/>
              </a:rPr>
              <a:t>0.010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7889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k_hyd  R004A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291840"/>
            <a:ext cx="2423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Noto Sans CJK JP"/>
              </a:rPr>
              <a:t>上限に当たっている
いちばんよい値ではない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25880"/>
            <a:ext cx="278892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325880"/>
            <a:ext cx="2788920" cy="14630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691640"/>
            <a:ext cx="27889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1F4E79"/>
                </a:solidFill>
                <a:latin typeface="Noto Sans CJK JP"/>
              </a:rPr>
              <a:t>0.655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7889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q_total  R003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291840"/>
            <a:ext cx="2423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Noto Sans CJK JP"/>
              </a:rPr>
              <a:t>吸着量の上限
以前は 0.420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1325880"/>
            <a:ext cx="278892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325880"/>
            <a:ext cx="2788920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1691640"/>
            <a:ext cx="27889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2E75B6"/>
                </a:solidFill>
                <a:latin typeface="Noto Sans CJK JP"/>
              </a:rPr>
              <a:t>1.359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78892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q_total  R004A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291840"/>
            <a:ext cx="2423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Noto Sans CJK JP"/>
              </a:rPr>
              <a:t>吸着量の上限
以前は 0.989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709160"/>
            <a:ext cx="1143000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846320"/>
            <a:ext cx="11064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注意：R004A の k_hyd=0.01 は、出口の誤差を小さくするための上限です。後段の塔でビタミンEを取る目的とは逆向きです。
k_hyd を 0 にすると山は平らになります。後段をビタミンE用に残すなら、R003 側の加水分解と脂肪酸吸着が効きます。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出口の山は、なぜ入口より高くなるか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見積もりは R003 の1ロット比較に基づきます。全部の反応を同時に振った解析ではありません。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11338560" cy="14173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Noto Sans CJK JP"/>
              </a:rPr>
              <a:t>山の本体は、樹脂に付いていたビタミンEが、脂肪酸に追い出されて液に戻ることです。
吸着だけだと、出口濃度は入口付近で止まります。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926080"/>
            <a:ext cx="278892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31089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3200400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溜める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8620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Noto Sans CJK JP"/>
              </a:rPr>
              <a:t>A1 / A2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4434840"/>
            <a:ext cx="2468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D2D2D"/>
                </a:solidFill>
                <a:latin typeface="Noto Sans CJK JP"/>
              </a:rPr>
              <a:t>ビタミンEを樹脂に付ける。速さだけ変えても、α と γ の山は分かれない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2926080"/>
            <a:ext cx="278892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43400" y="3108960"/>
            <a:ext cx="640080" cy="64008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3200400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増やす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88620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Noto Sans CJK JP"/>
              </a:rPr>
              <a:t>H + A3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4434840"/>
            <a:ext cx="2468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D2D2D"/>
                </a:solidFill>
                <a:latin typeface="Noto Sans CJK JP"/>
              </a:rPr>
              <a:t>塔の中で脂肪酸を増やし、追い出しのきっかけをつくる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926080"/>
            <a:ext cx="278892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69480" y="3108960"/>
            <a:ext cx="640080" cy="64008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3200400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追い出す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8620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Noto Sans CJK JP"/>
              </a:rPr>
              <a:t>E1 / E2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434840"/>
            <a:ext cx="2468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D2D2D"/>
                </a:solidFill>
                <a:latin typeface="Noto Sans CJK JP"/>
              </a:rPr>
              <a:t>樹脂上のビタミンEを液に戻す。入口より高い山の主経路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2926080"/>
            <a:ext cx="278892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95560" y="310896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95560" y="3200400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ずらす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88620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Noto Sans CJK JP"/>
              </a:rPr>
              <a:t>Keq と E3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4312" y="4434840"/>
            <a:ext cx="2468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2D2D2D"/>
                </a:solidFill>
                <a:latin typeface="Noto Sans CJK JP"/>
              </a:rPr>
              <a:t>出る順番は平衡の差。γ の高さと漏れは E3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山ができる順番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樹脂に溜める → 脂肪酸を増やす → 追い出す → α と γ をずらす</a:t>
            </a:r>
          </a:p>
        </p:txBody>
      </p:sp>
      <p:pic>
        <p:nvPicPr>
          <p:cNvPr id="5" name="Picture 4" descr="ve_causal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11338560" cy="4709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Noto Sans CJK JP"/>
              </a:rPr>
              <a:t>入口より高い山の本体は、加水分解 → 脂肪酸吸着 → 追い出しです。E3 は γ を高くし、漏れを減らします。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各反応は、出口の山にどう効くか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数字はおおよその見積もりです。α の山の主経路は E1、γ の山の主経路は E2 です。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1463040"/>
                <a:gridCol w="1645920"/>
                <a:gridCol w="1645920"/>
                <a:gridCol w="2377440"/>
              </a:tblGrid>
              <a:tr h="65151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反応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役割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α への効き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γ への効き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山の高さ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出る時刻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5151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A1 α の吸着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α を樹脂に溜める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必要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間接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速さだけでは分かれない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A2 γ の吸着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γ を樹脂に溜める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間接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必要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平衡の差で分かれる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A3 脂肪酸の吸着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取り合いのきっかけ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間接に大きい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間接に大きい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大きい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中くらい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E1 脂肪酸→α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α を追い出す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主経路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大きい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速さを2倍にしても α は +0.02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E2 脂肪酸→γ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γ を追い出す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小さい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主経路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大きい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山が少し鋭くなる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E3 γ→α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γ が先に α を出す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時刻が動く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高さ・漏れ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γ が +0.20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α の山が少し早く出る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H 加水分解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脂肪酸を足す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間接に大きい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間接に大きい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大きい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R003 なら今の値で足りる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段階を進めると、出口はどう変わったか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R003 の1ロット。実測の山は α 2.80、γ 2.83、間隔 60 分です。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194560"/>
                <a:gridCol w="1463040"/>
                <a:gridCol w="1463040"/>
                <a:gridCol w="1097280"/>
                <a:gridCol w="3291840"/>
              </a:tblGrid>
              <a:tr h="65836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段階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変えたもの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α の山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γ の山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間隔(分)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Noto Sans CJK JP"/>
                        </a:rPr>
                        <a:t>わかったこと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同じ平衡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α と γ を同じに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1.77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1.77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差がつかない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Phase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平衡だけ分ける r=1.7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1.77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1.95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出る順番は平衡で決まる。高さはほぼ同じ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B1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E3 を入れる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2.15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γ の山が高くなった本体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2D2D2D"/>
                          </a:solidFill>
                          <a:latin typeface="Noto Sans CJK JP"/>
                        </a:rPr>
                        <a:t>B2（いま）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交換の速さを2倍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1.81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2.20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000" b="0">
                          <a:solidFill>
                            <a:srgbClr val="2D2D2D"/>
                          </a:solidFill>
                          <a:latin typeface="Noto Sans CJK JP"/>
                        </a:rPr>
                        <a:t>α の高さは、速さの問題ではない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4709160"/>
            <a:ext cx="1143000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892040"/>
            <a:ext cx="11064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実測の山（2.80 / 2.83）には、まだ届いていません。α の高さをどう上げるかは未解決です。
交換の速さ、E3、α と γ の差 r を動かしても、α の山はほとんど上がりません。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何をしたいかで、触る反応が決まる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次に動かすなら、目的と反応をセットで選んでください。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5532120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46304" cy="24688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9903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入口より高い山にしたい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効く：加水分解 → 脂肪酸吸着 → 追い出し（E1/E2）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502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Noto Sans CJK JP"/>
              </a:rPr>
              <a:t>効かない：原料の FAEE を増やす、交換をさらに速くする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146304" cy="24688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39903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75B6"/>
                </a:solidFill>
                <a:latin typeface="Noto Sans CJK JP"/>
              </a:rPr>
              <a:t>α と γ の出る時刻をずらしたい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96596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効く：吸着と交換の平衡を分ける（Phase A）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97480"/>
            <a:ext cx="502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Noto Sans CJK JP"/>
              </a:rPr>
              <a:t>効かない：吸着の速さだけ分ける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886200"/>
            <a:ext cx="5532120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886200"/>
            <a:ext cx="146304" cy="24688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05079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D7D31"/>
                </a:solidFill>
                <a:latin typeface="Noto Sans CJK JP"/>
              </a:rPr>
              <a:t>γ を高く、漏れを減らしたい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61772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効く：E3 を入れる（B1）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9240"/>
            <a:ext cx="502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Noto Sans CJK JP"/>
              </a:rPr>
              <a:t>効かない：α と γ の差 r をさらに下げる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886200"/>
            <a:ext cx="5532120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886200"/>
            <a:ext cx="146304" cy="24688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05079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Noto Sans CJK JP"/>
              </a:rPr>
              <a:t>α の山を高くしたい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1772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効くもの：まだ見つかっていない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49240"/>
            <a:ext cx="502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Noto Sans CJK JP"/>
              </a:rPr>
              <a:t>効かない：交換の速さ、E3、r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まだ足りないこと、次に考えること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実測の山は α 2.80、γ 2.83。計算はまだそこまで届いていません。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399032"/>
            <a:ext cx="548640" cy="54864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9047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34416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α の山を高くする方法は、まだ見つかっていない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7335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Noto Sans CJK JP"/>
              </a:rPr>
              <a:t>交換の速さ、E3、α と γ の差では上がりません。合わせ方の見直しや、α の吸着速さを動かす案があります。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40280"/>
            <a:ext cx="11277295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2404872"/>
            <a:ext cx="548640" cy="54864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9631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5000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R004A の加水分解は、製造のイメージと分けて考える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67919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Noto Sans CJK JP"/>
              </a:rPr>
              <a:t>後段をビタミンE用に残すなら、R003 で脂肪酸を足し、R004 の分解は抑えた方がよいです。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46120"/>
            <a:ext cx="11277295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3410712"/>
            <a:ext cx="548640" cy="5486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0215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35584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効き方の数字は、おおよその見積もりです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68503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Noto Sans CJK JP"/>
              </a:rPr>
              <a:t>1ロットの比較に基づきます。7つの反応を同時に振った感度解析ではありません。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51960"/>
            <a:ext cx="11277295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416552"/>
            <a:ext cx="548640" cy="54864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0799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36168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出典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69087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Noto Sans CJK JP"/>
              </a:rPr>
              <a:t>Hiromori, Kanuma, Shibasaki-Kitakawa, J. Chem. Eng. Japan, 53(9), 477–484 (2020).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