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09728" cy="6858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1F4E79"/>
                </a:solidFill>
                <a:latin typeface="Noto Sans CJK JP"/>
              </a:rPr>
              <a:t>Copilotで作る
発明開示書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666666"/>
                </a:solidFill>
                <a:latin typeface="Noto Sans CJK JP"/>
              </a:rPr>
              <a:t>ゼロから素案まで　─　作業順と、最終の章立ては別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1264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Noto Sans CJK JP"/>
              </a:rPr>
              <a:t>王 者興  |  MKDS BDD Gr1.  |  2026/06/12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1F4E79"/>
                </a:solidFill>
                <a:latin typeface="Noto Sans CJK JP"/>
              </a:rPr>
              <a:t>この資料で伝えたいこと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Noto Sans CJK JP"/>
              </a:rPr>
              <a:t>発明開示書の素案を、Copilotで速く・抜けなく作る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611880" cy="4206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3611880" cy="6400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3611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JP"/>
              </a:rPr>
              <a:t>誰向け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86000"/>
            <a:ext cx="31546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2D2D2D"/>
                </a:solidFill>
                <a:latin typeface="Noto Sans CJK JP"/>
              </a:rPr>
              <a:t>初めて開示書を書く人
AIで知財業務を進めたい人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371600"/>
            <a:ext cx="3611880" cy="4206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97680" y="1371600"/>
            <a:ext cx="3611880" cy="6400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0" y="1463040"/>
            <a:ext cx="3611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JP"/>
              </a:rPr>
              <a:t>何が変わる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286000"/>
            <a:ext cx="31546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2D2D2D"/>
                </a:solidFill>
                <a:latin typeface="Noto Sans CJK JP"/>
              </a:rPr>
              <a:t>数日〜1週間 → 数時間で素案
中身の責任は発明者自身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371600"/>
            <a:ext cx="3611880" cy="4206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371600"/>
            <a:ext cx="3611880" cy="6400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1463040"/>
            <a:ext cx="3611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JP"/>
              </a:rPr>
              <a:t>進め方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286000"/>
            <a:ext cx="31546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2D2D2D"/>
                </a:solidFill>
                <a:latin typeface="Noto Sans CJK JP"/>
              </a:rPr>
              <a:t>作業順はStep 0〜5
先行特許は2回見る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565392"/>
            <a:ext cx="7772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65392"/>
            <a:ext cx="1097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1F4E79"/>
                </a:solidFill>
                <a:latin typeface="Noto Sans CJK JP"/>
              </a:rPr>
              <a:t>使う前の約束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Noto Sans CJK JP"/>
              </a:rPr>
              <a:t>入力してよい情報と、AIの位置づけ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471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5029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Noto Sans CJK JP"/>
              </a:rPr>
              <a:t>開示書作成中（発明のタネ）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0" y="1417320"/>
            <a:ext cx="2194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C0392B"/>
                </a:solidFill>
                <a:latin typeface="Noto Sans CJK JP"/>
              </a:rPr>
              <a:t>Restricted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417320"/>
            <a:ext cx="3383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Noto Sans CJK JP"/>
              </a:rPr>
              <a:t>Copilotへ入力可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30552"/>
            <a:ext cx="112471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13432"/>
            <a:ext cx="5029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Noto Sans CJK JP"/>
              </a:rPr>
              <a:t>ANAQUA登録後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313432"/>
            <a:ext cx="2194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C0392B"/>
                </a:solidFill>
                <a:latin typeface="Noto Sans CJK JP"/>
              </a:rPr>
              <a:t>Confidential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313432"/>
            <a:ext cx="3383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Noto Sans CJK JP"/>
              </a:rPr>
              <a:t>関係者のみ。Copilotへ入れない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026664"/>
            <a:ext cx="112471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09544"/>
            <a:ext cx="5029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Noto Sans CJK JP"/>
              </a:rPr>
              <a:t>共同研究の情報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3209544"/>
            <a:ext cx="2194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C0392B"/>
                </a:solidFill>
                <a:latin typeface="Noto Sans CJK JP"/>
              </a:rPr>
              <a:t>Confidential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209544"/>
            <a:ext cx="3383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Noto Sans CJK JP"/>
              </a:rPr>
              <a:t>生成AIへ原則禁止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114800"/>
            <a:ext cx="112471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51960"/>
            <a:ext cx="10789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  <a:latin typeface="Noto Sans CJK JP"/>
              </a:rPr>
              <a:t>AIは支援者。開示書の名義はあなたです。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754880"/>
            <a:ext cx="1078992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D2D2D"/>
                </a:solidFill>
                <a:latin typeface="Noto Sans CJK JP"/>
              </a:rPr>
              <a:t>① Copilotで60点の素案  →  ② 人と議論して直す  →  ③ もう一度Copilotで整える
各Stepの「回答例」は①。「仕上げ例」は③。出力をそのまま貼らない。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6565392"/>
            <a:ext cx="7772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565392"/>
            <a:ext cx="1097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1F4E79"/>
                </a:solidFill>
                <a:latin typeface="Noto Sans CJK JP"/>
              </a:rPr>
              <a:t>使う道具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Noto Sans CJK JP"/>
              </a:rPr>
              <a:t>文章はCopilot。PatentSQUAREは、クレーム案のあとの衝突確認で使う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7360920" cy="4892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7360920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44752"/>
            <a:ext cx="736092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Noto Sans CJK JP"/>
              </a:rPr>
              <a:t>まずはこれ　M365 Copilot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31720"/>
            <a:ext cx="6720840" cy="3520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2D2D2D"/>
                </a:solidFill>
                <a:latin typeface="Noto Sans CJK JP"/>
              </a:rPr>
              <a:t>・文章の下書き・整理・用語そろえ
・Step 1の先行特許調査（背景と、クレームの方向性）
・図（Graphviz）も、社外ツールを使わずここで作る
自然な言葉で依頼する。出力はそのまま貼らない。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1325880"/>
            <a:ext cx="3703320" cy="4892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01000" y="1325880"/>
            <a:ext cx="3703320" cy="7772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0" y="1389888"/>
            <a:ext cx="3703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JP"/>
              </a:rPr>
              <a:t>社内ツール　Step 4と5の間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1664208"/>
            <a:ext cx="3703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JP"/>
              </a:rPr>
              <a:t>PatentSQUARE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286000"/>
            <a:ext cx="3246120" cy="3611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D2D2D"/>
                </a:solidFill>
                <a:latin typeface="Noto Sans CJK JP"/>
              </a:rPr>
              <a:t>クレーム案が先行特許と衝突しないかを、本格的に見るときに使う。
使い方はこのマニュアルでは説明しない。
参考：知的財産部ホームページ（利用案内）
https://www.panasonic.com/jp/business/its/patentsquare.html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565392"/>
            <a:ext cx="7772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65392"/>
            <a:ext cx="1097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1F4E79"/>
                </a:solidFill>
                <a:latin typeface="Noto Sans CJK JP"/>
              </a:rPr>
              <a:t>最終の章立て（ANAQUA）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Noto Sans CJK JP"/>
              </a:rPr>
              <a:t>これは書き順ではない。最後に開示書へ落とすときの形です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965960"/>
            <a:ext cx="1170432" cy="2606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22376" y="2176272"/>
            <a:ext cx="502920" cy="50292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240280"/>
            <a:ext cx="502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" y="2834640"/>
            <a:ext cx="1024128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4E79"/>
                </a:solidFill>
                <a:latin typeface="Noto Sans CJK JP"/>
              </a:rPr>
              <a:t>技術分野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91640" y="1965960"/>
            <a:ext cx="1170432" cy="2606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002536" y="2176272"/>
            <a:ext cx="502920" cy="50292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02536" y="2240280"/>
            <a:ext cx="502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2.1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64792" y="2834640"/>
            <a:ext cx="1024128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4E79"/>
                </a:solidFill>
                <a:latin typeface="Noto Sans CJK JP"/>
              </a:rPr>
              <a:t>従来の図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71800" y="1965960"/>
            <a:ext cx="1170432" cy="2606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282696" y="2176272"/>
            <a:ext cx="502920" cy="50292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82696" y="2240280"/>
            <a:ext cx="502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2.2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44952" y="2834640"/>
            <a:ext cx="1024128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4E79"/>
                </a:solidFill>
                <a:latin typeface="Noto Sans CJK JP"/>
              </a:rPr>
              <a:t>従来の問題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1960" y="1965960"/>
            <a:ext cx="1170432" cy="2606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62856" y="2176272"/>
            <a:ext cx="502920" cy="50292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2856" y="2240280"/>
            <a:ext cx="502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3.1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5112" y="2834640"/>
            <a:ext cx="1024128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4E79"/>
                </a:solidFill>
                <a:latin typeface="Noto Sans CJK JP"/>
              </a:rPr>
              <a:t>目的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32120" y="1965960"/>
            <a:ext cx="1170432" cy="2606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843016" y="2176272"/>
            <a:ext cx="502920" cy="50292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43016" y="2240280"/>
            <a:ext cx="502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3.2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05272" y="2834640"/>
            <a:ext cx="1024128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4E79"/>
                </a:solidFill>
                <a:latin typeface="Noto Sans CJK JP"/>
              </a:rPr>
              <a:t>本発明の図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12280" y="1965960"/>
            <a:ext cx="1170432" cy="2606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123176" y="2176272"/>
            <a:ext cx="502920" cy="50292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23176" y="2240280"/>
            <a:ext cx="502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3.3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85432" y="2834640"/>
            <a:ext cx="1024128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4E79"/>
                </a:solidFill>
                <a:latin typeface="Noto Sans CJK JP"/>
              </a:rPr>
              <a:t>具体的内容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92440" y="1965960"/>
            <a:ext cx="1170432" cy="2606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403336" y="2176272"/>
            <a:ext cx="502920" cy="50292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03336" y="2240280"/>
            <a:ext cx="502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3.4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5592" y="2834640"/>
            <a:ext cx="1024128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4E79"/>
                </a:solidFill>
                <a:latin typeface="Noto Sans CJK JP"/>
              </a:rPr>
              <a:t>効果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372600" y="1965960"/>
            <a:ext cx="1170432" cy="2606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683496" y="2176272"/>
            <a:ext cx="502920" cy="50292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83496" y="2240280"/>
            <a:ext cx="502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45752" y="2834640"/>
            <a:ext cx="1024128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4E79"/>
                </a:solidFill>
                <a:latin typeface="Noto Sans CJK JP"/>
              </a:rPr>
              <a:t>発展例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652760" y="1965960"/>
            <a:ext cx="1170432" cy="2606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963656" y="2176272"/>
            <a:ext cx="502920" cy="50292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63656" y="2240280"/>
            <a:ext cx="502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25912" y="2834640"/>
            <a:ext cx="1024128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4E79"/>
                </a:solidFill>
                <a:latin typeface="Noto Sans CJK JP"/>
              </a:rPr>
              <a:t>クレーム案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11480" y="4800600"/>
            <a:ext cx="11338560" cy="1417320"/>
          </a:xfrm>
          <a:prstGeom prst="roundRect">
            <a:avLst>
              <a:gd name="adj" fmla="val 10000"/>
            </a:avLst>
          </a:prstGeom>
          <a:solidFill>
            <a:srgbClr val="FDF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4919472"/>
            <a:ext cx="10972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F4E79"/>
                </a:solidFill>
                <a:latin typeface="Noto Sans CJK JP"/>
              </a:rPr>
              <a:t>作業は次のページの Step 0〜5 の順で進める。
この章立てに中身を写すのは、いちばん最後（Step 5）です。
テンプレート：知的財産部ホームページ（ANAQUA形式）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6565392"/>
            <a:ext cx="7772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07040" y="6565392"/>
            <a:ext cx="1097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1F4E79"/>
                </a:solidFill>
                <a:latin typeface="Noto Sans CJK JP"/>
              </a:rPr>
              <a:t>本マニュアルの作業順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Noto Sans CJK JP"/>
              </a:rPr>
              <a:t>上段がやること。下段がゴール。5枚目の章立てとは別物です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261872"/>
            <a:ext cx="1883664" cy="4160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1371600"/>
            <a:ext cx="438912" cy="438912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408176"/>
            <a:ext cx="43891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Noto Sans CJK JP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" y="1901952"/>
            <a:ext cx="1737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Noto Sans CJK JP"/>
              </a:rPr>
              <a:t>タネを言語化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724912"/>
            <a:ext cx="1664208" cy="457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" y="2880360"/>
            <a:ext cx="1700784" cy="2331720"/>
          </a:xfrm>
          <a:prstGeom prst="roundRect">
            <a:avLst>
              <a:gd name="adj" fmla="val 10000"/>
            </a:avLst>
          </a:prstGeom>
          <a:solidFill>
            <a:srgbClr val="E8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944368"/>
            <a:ext cx="166420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C9A227"/>
                </a:solidFill>
                <a:latin typeface="Noto Sans CJK JP"/>
              </a:rPr>
              <a:t>ゴール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3246120"/>
            <a:ext cx="1627632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4E79"/>
                </a:solidFill>
                <a:latin typeface="Noto Sans CJK JP"/>
              </a:rPr>
              <a:t>課題と解決を
30秒で話せる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66544" y="1417320"/>
            <a:ext cx="2926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Noto Sans CJK JP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22576" y="1261872"/>
            <a:ext cx="1883664" cy="4160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0944" y="1371600"/>
            <a:ext cx="438912" cy="438912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0944" y="1408176"/>
            <a:ext cx="43891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Noto Sans CJK JP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95728" y="1901952"/>
            <a:ext cx="1737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Noto Sans CJK JP"/>
              </a:rPr>
              <a:t>先行特許で
背景と方向性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32304" y="2724912"/>
            <a:ext cx="1664208" cy="457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414016" y="2880360"/>
            <a:ext cx="1700784" cy="2331720"/>
          </a:xfrm>
          <a:prstGeom prst="roundRect">
            <a:avLst>
              <a:gd name="adj" fmla="val 10000"/>
            </a:avLst>
          </a:prstGeom>
          <a:solidFill>
            <a:srgbClr val="E8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32304" y="2944368"/>
            <a:ext cx="166420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C9A227"/>
                </a:solidFill>
                <a:latin typeface="Noto Sans CJK JP"/>
              </a:rPr>
              <a:t>ゴール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50592" y="3246120"/>
            <a:ext cx="1627632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4E79"/>
                </a:solidFill>
                <a:latin typeface="Noto Sans CJK JP"/>
              </a:rPr>
              <a:t>近い先行特許と
方向性が見える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41648" y="1417320"/>
            <a:ext cx="2926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Noto Sans CJK JP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1261872"/>
            <a:ext cx="1883664" cy="4160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956048" y="1371600"/>
            <a:ext cx="438912" cy="438912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56048" y="1408176"/>
            <a:ext cx="43891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Noto Sans CJK JP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0832" y="1901952"/>
            <a:ext cx="1737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Noto Sans CJK JP"/>
              </a:rPr>
              <a:t>本発明を具体化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07408" y="2724912"/>
            <a:ext cx="1664208" cy="457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389120" y="2880360"/>
            <a:ext cx="1700784" cy="2331720"/>
          </a:xfrm>
          <a:prstGeom prst="roundRect">
            <a:avLst>
              <a:gd name="adj" fmla="val 10000"/>
            </a:avLst>
          </a:prstGeom>
          <a:solidFill>
            <a:srgbClr val="E8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07408" y="2944368"/>
            <a:ext cx="166420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C9A227"/>
                </a:solidFill>
                <a:latin typeface="Noto Sans CJK JP"/>
              </a:rPr>
              <a:t>ゴール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5696" y="3246120"/>
            <a:ext cx="1627632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4E79"/>
                </a:solidFill>
                <a:latin typeface="Noto Sans CJK JP"/>
              </a:rPr>
              <a:t>構成と流れと
差が言える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16752" y="1417320"/>
            <a:ext cx="2926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Noto Sans CJK JP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72784" y="1261872"/>
            <a:ext cx="1883664" cy="4160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931152" y="1371600"/>
            <a:ext cx="438912" cy="438912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31152" y="1408176"/>
            <a:ext cx="43891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Noto Sans CJK JP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45936" y="1901952"/>
            <a:ext cx="1737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Noto Sans CJK JP"/>
              </a:rPr>
              <a:t>差を表にする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82512" y="2724912"/>
            <a:ext cx="1664208" cy="457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364224" y="2880360"/>
            <a:ext cx="1700784" cy="2331720"/>
          </a:xfrm>
          <a:prstGeom prst="roundRect">
            <a:avLst>
              <a:gd name="adj" fmla="val 10000"/>
            </a:avLst>
          </a:prstGeom>
          <a:solidFill>
            <a:srgbClr val="E8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82512" y="2944368"/>
            <a:ext cx="166420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C9A227"/>
                </a:solidFill>
                <a:latin typeface="Noto Sans CJK JP"/>
              </a:rPr>
              <a:t>ゴール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3246120"/>
            <a:ext cx="1627632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4E79"/>
                </a:solidFill>
                <a:latin typeface="Noto Sans CJK JP"/>
              </a:rPr>
              <a:t>従来との差が
1枚の表になる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91856" y="1417320"/>
            <a:ext cx="2926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Noto Sans CJK JP"/>
              </a:rPr>
              <a:t>→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47888" y="1261872"/>
            <a:ext cx="1883664" cy="4160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906256" y="1371600"/>
            <a:ext cx="438912" cy="438912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906256" y="1408176"/>
            <a:ext cx="43891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Noto Sans CJK JP"/>
              </a:rPr>
              <a:t>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1901952"/>
            <a:ext cx="1737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Noto Sans CJK JP"/>
              </a:rPr>
              <a:t>クレームと発展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57616" y="2724912"/>
            <a:ext cx="1664208" cy="457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339328" y="2880360"/>
            <a:ext cx="1700784" cy="2331720"/>
          </a:xfrm>
          <a:prstGeom prst="roundRect">
            <a:avLst>
              <a:gd name="adj" fmla="val 10000"/>
            </a:avLst>
          </a:prstGeom>
          <a:solidFill>
            <a:srgbClr val="E8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57616" y="2944368"/>
            <a:ext cx="166420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C9A227"/>
                </a:solidFill>
                <a:latin typeface="Noto Sans CJK JP"/>
              </a:rPr>
              <a:t>ゴール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75904" y="3246120"/>
            <a:ext cx="1627632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4E79"/>
                </a:solidFill>
                <a:latin typeface="Noto Sans CJK JP"/>
              </a:rPr>
              <a:t>被りにくい
守り方が書ける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6960" y="1417320"/>
            <a:ext cx="2926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Noto Sans CJK JP"/>
              </a:rPr>
              <a:t>→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222992" y="1261872"/>
            <a:ext cx="1883664" cy="4160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881360" y="1371600"/>
            <a:ext cx="438912" cy="438912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881360" y="1408176"/>
            <a:ext cx="43891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Noto Sans CJK JP"/>
              </a:rPr>
              <a:t>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296144" y="1901952"/>
            <a:ext cx="1737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Noto Sans CJK JP"/>
              </a:rPr>
              <a:t>開示書へ落とす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332720" y="2724912"/>
            <a:ext cx="1664208" cy="457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0314432" y="2880360"/>
            <a:ext cx="1700784" cy="2331720"/>
          </a:xfrm>
          <a:prstGeom prst="roundRect">
            <a:avLst>
              <a:gd name="adj" fmla="val 10000"/>
            </a:avLst>
          </a:prstGeom>
          <a:solidFill>
            <a:srgbClr val="E8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332720" y="2944368"/>
            <a:ext cx="166420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C9A227"/>
                </a:solidFill>
                <a:latin typeface="Noto Sans CJK JP"/>
              </a:rPr>
              <a:t>ゴール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51008" y="3246120"/>
            <a:ext cx="1627632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4E79"/>
                </a:solidFill>
                <a:latin typeface="Noto Sans CJK JP"/>
              </a:rPr>
              <a:t>章立てが埋まり
矛盾がない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47472" y="5532120"/>
            <a:ext cx="11475720" cy="914400"/>
          </a:xfrm>
          <a:prstGeom prst="roundRect">
            <a:avLst>
              <a:gd name="adj" fmla="val 10000"/>
            </a:avLst>
          </a:prstGeom>
          <a:solidFill>
            <a:srgbClr val="FDF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02920" y="5614416"/>
            <a:ext cx="1115568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  <a:latin typeface="Noto Sans CJK JP"/>
              </a:rPr>
              <a:t>先行特許は2回見る　Step 1＝背景と方向性　／　Step 4と5の間＝クレーム案の衝突確認（PatentSQUARE）
衝突したら Step 2 へ戻る。次のページで、この2回の役割を分けて示す。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7772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607040" y="6565392"/>
            <a:ext cx="1097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1F4E79"/>
                </a:solidFill>
                <a:latin typeface="Noto Sans CJK JP"/>
              </a:rPr>
              <a:t>先行特許は2回見る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Noto Sans CJK JP"/>
              </a:rPr>
              <a:t>同じ調査を繰り返すのではなく、見るものが違う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80160"/>
            <a:ext cx="5623560" cy="4937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280160"/>
            <a:ext cx="5623560" cy="6400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371600"/>
            <a:ext cx="5623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JP"/>
              </a:rPr>
              <a:t>1回目　Step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057400"/>
            <a:ext cx="512064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  <a:latin typeface="Noto Sans CJK JP"/>
              </a:rPr>
              <a:t>背景の調査。近い先行特許に被らないよう、クレーム案のおおまかな方向性を決める。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3200400"/>
            <a:ext cx="51206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Noto Sans CJK JP"/>
              </a:rPr>
              <a:t>・Copilotで近い特許の見当をつける
・似ている点／違う点を一言にする
・独立項の核になりそうな方向だけ決める
・この段階ではクレームの文言は書かない
・PatentSQUAREはまだ使わない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280160"/>
            <a:ext cx="5623560" cy="4937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280160"/>
            <a:ext cx="5623560" cy="6400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1371600"/>
            <a:ext cx="5623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JP"/>
              </a:rPr>
              <a:t>2回目　Step 4と5の間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2057400"/>
            <a:ext cx="512064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  <a:latin typeface="Noto Sans CJK JP"/>
              </a:rPr>
              <a:t>作ったクレーム案が、先行特許と衝突するかを判断する。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3200400"/>
            <a:ext cx="51206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Noto Sans CJK JP"/>
              </a:rPr>
              <a:t>・ここがPatentSQUAREの出番
・使い方はこのマニュアルでは説明しない
・参考：知的財産部ホームページ
・https://www.panasonic.com/jp/business/its/patentsquare.html
・衝突するなら Step 2 へ戻る
・衝突しなければ Step 5 へ進む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7772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65392"/>
            <a:ext cx="1097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6858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1F4E79"/>
                </a:solidFill>
                <a:latin typeface="Noto Sans CJK JP"/>
              </a:rPr>
              <a:t>Step 0　発明のタネを言葉にする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52360" y="292608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Noto Sans CJK JP"/>
              </a:rPr>
              <a:t>いまここ</a:t>
            </a:r>
          </a:p>
        </p:txBody>
      </p:sp>
      <p:sp>
        <p:nvSpPr>
          <p:cNvPr id="5" name="Oval 4"/>
          <p:cNvSpPr/>
          <p:nvPr/>
        </p:nvSpPr>
        <p:spPr>
          <a:xfrm>
            <a:off x="8366760" y="292608"/>
            <a:ext cx="347472" cy="347472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66760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0</a:t>
            </a:r>
          </a:p>
        </p:txBody>
      </p:sp>
      <p:sp>
        <p:nvSpPr>
          <p:cNvPr id="7" name="Oval 6"/>
          <p:cNvSpPr/>
          <p:nvPr/>
        </p:nvSpPr>
        <p:spPr>
          <a:xfrm>
            <a:off x="8933688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33688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1</a:t>
            </a:r>
          </a:p>
        </p:txBody>
      </p:sp>
      <p:sp>
        <p:nvSpPr>
          <p:cNvPr id="9" name="Oval 8"/>
          <p:cNvSpPr/>
          <p:nvPr/>
        </p:nvSpPr>
        <p:spPr>
          <a:xfrm>
            <a:off x="9500616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0616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2</a:t>
            </a:r>
          </a:p>
        </p:txBody>
      </p:sp>
      <p:sp>
        <p:nvSpPr>
          <p:cNvPr id="11" name="Oval 10"/>
          <p:cNvSpPr/>
          <p:nvPr/>
        </p:nvSpPr>
        <p:spPr>
          <a:xfrm>
            <a:off x="10067544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67544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3</a:t>
            </a:r>
          </a:p>
        </p:txBody>
      </p:sp>
      <p:sp>
        <p:nvSpPr>
          <p:cNvPr id="13" name="Oval 12"/>
          <p:cNvSpPr/>
          <p:nvPr/>
        </p:nvSpPr>
        <p:spPr>
          <a:xfrm>
            <a:off x="10634472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34472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4</a:t>
            </a:r>
          </a:p>
        </p:txBody>
      </p:sp>
      <p:sp>
        <p:nvSpPr>
          <p:cNvPr id="15" name="Oval 14"/>
          <p:cNvSpPr/>
          <p:nvPr/>
        </p:nvSpPr>
        <p:spPr>
          <a:xfrm>
            <a:off x="11201400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201400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804672"/>
            <a:ext cx="11448288" cy="86868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841248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  <a:latin typeface="Noto Sans CJK JP"/>
              </a:rPr>
              <a:t>このStepのゴール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078992"/>
            <a:ext cx="1108252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Noto Sans CJK JP"/>
              </a:rPr>
              <a:t>課題と解決の骨格を、口頭で30秒話せる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1755648"/>
            <a:ext cx="11448288" cy="384048"/>
          </a:xfrm>
          <a:prstGeom prst="roundRect">
            <a:avLst>
              <a:gd name="adj" fmla="val 10000"/>
            </a:avLst>
          </a:prstGeom>
          <a:solidFill>
            <a:srgbClr val="FDF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1792224"/>
            <a:ext cx="1117396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  <a:latin typeface="Noto Sans CJK JP"/>
              </a:rPr>
              <a:t>次へ進む前の確認　□ 背景・困っていること・何をしたいか、を自分の言葉で言える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2212848"/>
            <a:ext cx="3730752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2249424"/>
            <a:ext cx="35478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Noto Sans CJK JP"/>
              </a:rPr>
              <a:t>やること 1　タイトルと「何が困るか」を聞く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24528" y="2212848"/>
            <a:ext cx="3730752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34256" y="2249424"/>
            <a:ext cx="35478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Noto Sans CJK JP"/>
              </a:rPr>
              <a:t>やること 2　メモや会議動画があれば入れる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83296" y="2212848"/>
            <a:ext cx="3730752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93024" y="2249424"/>
            <a:ext cx="35478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Noto Sans CJK JP"/>
              </a:rPr>
              <a:t>やること 3　穴のある文章でよいので出す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2743200"/>
            <a:ext cx="11448288" cy="3703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2743200"/>
            <a:ext cx="109728" cy="37033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2816352"/>
            <a:ext cx="1108252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4E79"/>
                </a:solidFill>
                <a:latin typeface="Noto Sans CJK JP"/>
              </a:rPr>
              <a:t>あなた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3017520"/>
            <a:ext cx="11082528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  <a:latin typeface="Noto Sans CJK JP"/>
              </a:rPr>
              <a:t>『安全計装ロジック自動構築ツール』という発明アイデアがあります。プラント安全計装設計における課題と、本発明の概要を整理してください。権利範囲（クレーム）はまだ作らないでください。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621024"/>
            <a:ext cx="11082528" cy="13716"/>
          </a:xfrm>
          <a:prstGeom prst="rect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675888"/>
            <a:ext cx="1108252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E75B6"/>
                </a:solidFill>
                <a:latin typeface="Noto Sans CJK JP"/>
              </a:rPr>
              <a:t>回答例（① 60点の素案）　※3枚目の①。人と直す前。Copilotでも同じ聞き方でよい。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3913632"/>
            <a:ext cx="11036808" cy="2423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了解です。いまは開示書の「背景・課題・本発明・効果」の骨格だけ作ります。数字や工数は仮なので、自部署の実績に置き換えてください。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背景　安全計装（SIS）の設計では、HAZOPで危険シナリオを出し、原因と結果の表（C&amp;E）とファンクションブロック図（FBD）を人手で作り、別ツールでSIL検証することが多いです。入力はHAZOP表・P&amp;ID・機器リスト、出力はSIFのロジックと検証記録です。担当者がツールをまたいで転記し、作図しています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課題　①転記と作図に時間がかかる　②担当者でロジックの切り方・命名がぶれる　③HAZOP項目の漏れや、設計変更が検証に届かない　④「なぜこの素子が入ったか」が成果物に残らない。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本発明　HAZOPなどの入力から、知識ベースと規則でSIFロジックを自動合成し、SIL検証までつなぎ、C&amp;E／FBDと追跡表として出すツールです。人が見る点（例外、特殊インターロック）は残します。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効果　工数削減、属人化の低減、漏れ低減、変更時の影響範囲の可視化（トレーサビリティ）。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この骨格で30秒話せるようになったら、次は近い先行特許を探します。『自動生成』という言葉だけで権利の話に入らないでください。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7772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565392"/>
            <a:ext cx="1097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6858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1F4E79"/>
                </a:solidFill>
                <a:latin typeface="Noto Sans CJK JP"/>
              </a:rPr>
              <a:t>Step 0　仕上げ（③）　発明のタネ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52360" y="292608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Noto Sans CJK JP"/>
              </a:rPr>
              <a:t>いまここ</a:t>
            </a:r>
          </a:p>
        </p:txBody>
      </p:sp>
      <p:sp>
        <p:nvSpPr>
          <p:cNvPr id="5" name="Oval 4"/>
          <p:cNvSpPr/>
          <p:nvPr/>
        </p:nvSpPr>
        <p:spPr>
          <a:xfrm>
            <a:off x="8366760" y="292608"/>
            <a:ext cx="347472" cy="347472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66760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0</a:t>
            </a:r>
          </a:p>
        </p:txBody>
      </p:sp>
      <p:sp>
        <p:nvSpPr>
          <p:cNvPr id="7" name="Oval 6"/>
          <p:cNvSpPr/>
          <p:nvPr/>
        </p:nvSpPr>
        <p:spPr>
          <a:xfrm>
            <a:off x="8933688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33688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1</a:t>
            </a:r>
          </a:p>
        </p:txBody>
      </p:sp>
      <p:sp>
        <p:nvSpPr>
          <p:cNvPr id="9" name="Oval 8"/>
          <p:cNvSpPr/>
          <p:nvPr/>
        </p:nvSpPr>
        <p:spPr>
          <a:xfrm>
            <a:off x="9500616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0616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2</a:t>
            </a:r>
          </a:p>
        </p:txBody>
      </p:sp>
      <p:sp>
        <p:nvSpPr>
          <p:cNvPr id="11" name="Oval 10"/>
          <p:cNvSpPr/>
          <p:nvPr/>
        </p:nvSpPr>
        <p:spPr>
          <a:xfrm>
            <a:off x="10067544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67544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3</a:t>
            </a:r>
          </a:p>
        </p:txBody>
      </p:sp>
      <p:sp>
        <p:nvSpPr>
          <p:cNvPr id="13" name="Oval 12"/>
          <p:cNvSpPr/>
          <p:nvPr/>
        </p:nvSpPr>
        <p:spPr>
          <a:xfrm>
            <a:off x="10634472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34472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4</a:t>
            </a:r>
          </a:p>
        </p:txBody>
      </p:sp>
      <p:sp>
        <p:nvSpPr>
          <p:cNvPr id="15" name="Oval 14"/>
          <p:cNvSpPr/>
          <p:nvPr/>
        </p:nvSpPr>
        <p:spPr>
          <a:xfrm>
            <a:off x="11201400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201400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804672"/>
            <a:ext cx="11448288" cy="530352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877824"/>
            <a:ext cx="1108252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Noto Sans CJK JP"/>
              </a:rPr>
              <a:t>3枚目の③　人と議論したあと、Copilotでもう一度整えた版。①より量が多く、開示書に近い。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1444752"/>
            <a:ext cx="11448288" cy="4937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1444752"/>
            <a:ext cx="109728" cy="4937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1572768"/>
            <a:ext cx="1092708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2D2D2D"/>
                </a:solidFill>
                <a:latin typeface="Noto Sans CJK JP"/>
              </a:rPr>
              <a:t>技術分野：プラントの安全計装（SIS）設計。対象は、HAZOPの結果からSIF（安全計装機能）のロジックを組み立て、SIL検証までつなぐ作業である。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2D2D2D"/>
                </a:solidFill>
                <a:latin typeface="Noto Sans CJK JP"/>
              </a:rPr>
              <a:t>背景：現状の設計では、HAZOPワークショップで危険シナリオを出したあと、原因と結果の表（C&amp;E）とファンクションブロック図（FBD）を担当者が手作業で作る。SIL検証は別ツールで行い、結果を設計書へ転記する。入力はHAZOP表、P&amp;ID、機器リスト。出力はSIFロジックと検証記録である。ツールが分かれているため、同じ情報を何度も写している。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2D2D2D"/>
                </a:solidFill>
                <a:latin typeface="Noto Sans CJK JP"/>
              </a:rPr>
              <a:t>従来の問題：転記と作図に時間がかかる。担当者ごとにロジックの切り方と命名がぶれる。HAZOP項目の漏れや、設計変更が検証側に届かないことがある。「なぜこの素子が入ったか」が成果物に残らず、レビューと変更影響の把握が属人的になる。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2D2D2D"/>
                </a:solidFill>
                <a:latin typeface="Noto Sans CJK JP"/>
              </a:rPr>
              <a:t>目的：HAZOP等の入力からSIFロジックを合成し、検証し、成果物と追跡表として出すことで、工数・属人化・漏れ・変更追跡の問題を同時に減らす。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2D2D2D"/>
                </a:solidFill>
                <a:latin typeface="Noto Sans CJK JP"/>
              </a:rPr>
              <a:t>本発明の概要：入力部、知識ベース、合成エンジン、検証部、出力部を持つ。人が見る点（例外シナリオ、特殊インターロック、不合格時の方針）は残す。自動生成だけで終わらせない。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2D2D2D"/>
                </a:solidFill>
                <a:latin typeface="Noto Sans CJK JP"/>
              </a:rPr>
              <a:t>効果：工数削減、切り方のそろえ、漏れの早期発見、変更時の影響範囲の可視化。数字は自部署の実績に置き換える。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2D2D2D"/>
                </a:solidFill>
                <a:latin typeface="Noto Sans CJK JP"/>
              </a:rPr>
              <a:t>次に進む条件：この骨格を、資料を見ずに30秒で話せる。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7772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565392"/>
            <a:ext cx="1097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6858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1F4E79"/>
                </a:solidFill>
                <a:latin typeface="Noto Sans CJK JP"/>
              </a:rPr>
              <a:t>Step 1　先行特許で背景と方向性を見る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52360" y="292608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Noto Sans CJK JP"/>
              </a:rPr>
              <a:t>いまここ</a:t>
            </a:r>
          </a:p>
        </p:txBody>
      </p:sp>
      <p:sp>
        <p:nvSpPr>
          <p:cNvPr id="5" name="Oval 4"/>
          <p:cNvSpPr/>
          <p:nvPr/>
        </p:nvSpPr>
        <p:spPr>
          <a:xfrm>
            <a:off x="8366760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66760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0</a:t>
            </a:r>
          </a:p>
        </p:txBody>
      </p:sp>
      <p:sp>
        <p:nvSpPr>
          <p:cNvPr id="7" name="Oval 6"/>
          <p:cNvSpPr/>
          <p:nvPr/>
        </p:nvSpPr>
        <p:spPr>
          <a:xfrm>
            <a:off x="8933688" y="292608"/>
            <a:ext cx="347472" cy="347472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33688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1</a:t>
            </a:r>
          </a:p>
        </p:txBody>
      </p:sp>
      <p:sp>
        <p:nvSpPr>
          <p:cNvPr id="9" name="Oval 8"/>
          <p:cNvSpPr/>
          <p:nvPr/>
        </p:nvSpPr>
        <p:spPr>
          <a:xfrm>
            <a:off x="9500616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0616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2</a:t>
            </a:r>
          </a:p>
        </p:txBody>
      </p:sp>
      <p:sp>
        <p:nvSpPr>
          <p:cNvPr id="11" name="Oval 10"/>
          <p:cNvSpPr/>
          <p:nvPr/>
        </p:nvSpPr>
        <p:spPr>
          <a:xfrm>
            <a:off x="10067544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67544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3</a:t>
            </a:r>
          </a:p>
        </p:txBody>
      </p:sp>
      <p:sp>
        <p:nvSpPr>
          <p:cNvPr id="13" name="Oval 12"/>
          <p:cNvSpPr/>
          <p:nvPr/>
        </p:nvSpPr>
        <p:spPr>
          <a:xfrm>
            <a:off x="10634472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34472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4</a:t>
            </a:r>
          </a:p>
        </p:txBody>
      </p:sp>
      <p:sp>
        <p:nvSpPr>
          <p:cNvPr id="15" name="Oval 14"/>
          <p:cNvSpPr/>
          <p:nvPr/>
        </p:nvSpPr>
        <p:spPr>
          <a:xfrm>
            <a:off x="11201400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201400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804672"/>
            <a:ext cx="11448288" cy="86868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841248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  <a:latin typeface="Noto Sans CJK JP"/>
              </a:rPr>
              <a:t>このStepのゴール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078992"/>
            <a:ext cx="1108252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Noto Sans CJK JP"/>
              </a:rPr>
              <a:t>近い先行特許が見え、クレーム案のおおまかな方向性が決まる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1755648"/>
            <a:ext cx="11448288" cy="384048"/>
          </a:xfrm>
          <a:prstGeom prst="roundRect">
            <a:avLst>
              <a:gd name="adj" fmla="val 10000"/>
            </a:avLst>
          </a:prstGeom>
          <a:solidFill>
            <a:srgbClr val="FDF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1792224"/>
            <a:ext cx="1117396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  <a:latin typeface="Noto Sans CJK JP"/>
              </a:rPr>
              <a:t>次へ進む前の確認　□ 被りそうな点を避けた方向を、一言で言える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2212848"/>
            <a:ext cx="3730752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2249424"/>
            <a:ext cx="35478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Noto Sans CJK JP"/>
              </a:rPr>
              <a:t>やること 1　Copilotで近い先行特許を聞く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24528" y="2212848"/>
            <a:ext cx="3730752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34256" y="2249424"/>
            <a:ext cx="35478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Noto Sans CJK JP"/>
              </a:rPr>
              <a:t>やること 2　似ている点／違う点を整理する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83296" y="2212848"/>
            <a:ext cx="3730752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93024" y="2249424"/>
            <a:ext cx="35478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Noto Sans CJK JP"/>
              </a:rPr>
              <a:t>やること 3　方向だけ決める（文言は書かない）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2743200"/>
            <a:ext cx="11448288" cy="3703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2743200"/>
            <a:ext cx="109728" cy="37033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2816352"/>
            <a:ext cx="1108252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4E79"/>
                </a:solidFill>
                <a:latin typeface="Noto Sans CJK JP"/>
              </a:rPr>
              <a:t>あなた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3017520"/>
            <a:ext cx="11082528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  <a:latin typeface="Noto Sans CJK JP"/>
              </a:rPr>
              <a:t>本発明に近い先行特許を探すキーワードと、調査で見る観点を出してください。権利範囲（クレーム）はまだ作らないでください。ヒットした『自動生成』だけで本発明と同じと思わないようにしてください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621024"/>
            <a:ext cx="11082528" cy="13716"/>
          </a:xfrm>
          <a:prstGeom prst="rect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675888"/>
            <a:ext cx="1108252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E75B6"/>
                </a:solidFill>
                <a:latin typeface="Noto Sans CJK JP"/>
              </a:rPr>
              <a:t>回答例（① 60点の素案）　※3枚目の①。人と直す前。Copilotでも同じ聞き方でよい。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3913632"/>
            <a:ext cx="11036808" cy="2423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了解です。クレームの文言は書きません。先に『何が近いか』を見る検索語と、読む観点だけ出します。まずはCopilotで近い特許の見当をつけてください。本格的な衝突確認は、クレーム案を作ったあと（Step 4と5の間）にPatentSQUAREで行います。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検索の核　安全計装、SIS、SIF、HAZOP、C&amp;E、cause and effect、FBD、インターロック、トリップロジック、ロジック自動生成、SIL検証、トレーサビリティ。英語も併用：safety instrumented system, automatic generation, cause and effect matrix。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組み合わせ例　「HAZOP 自動 AND SIF」「cause and effect 自動生成 安全計装」「SIL verification 自動 ロジック」。広すぎたら『検証』『追跡』『HAZOP』を必須語にして絞る。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読む観点　①ロジックをどこまで自動で作るか　②SIL検証とつながるか　③HAZOP項目と成果物の対応が残るか　④人がどこを確認するか　⑤対象がSISか、DCSの一般ロジックか。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方向性の決め方　『自動生成』は先行特許にも多い。方向の核は『検証結果を設計へ戻す』『入力項目と素子の対応を残す』に置く。文言はまだ書かない。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7772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565392"/>
            <a:ext cx="1097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6858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1F4E79"/>
                </a:solidFill>
                <a:latin typeface="Noto Sans CJK JP"/>
              </a:rPr>
              <a:t>Step 1　仕上げ（③）　背景調査と方向性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52360" y="292608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Noto Sans CJK JP"/>
              </a:rPr>
              <a:t>いまここ</a:t>
            </a:r>
          </a:p>
        </p:txBody>
      </p:sp>
      <p:sp>
        <p:nvSpPr>
          <p:cNvPr id="5" name="Oval 4"/>
          <p:cNvSpPr/>
          <p:nvPr/>
        </p:nvSpPr>
        <p:spPr>
          <a:xfrm>
            <a:off x="8366760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66760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0</a:t>
            </a:r>
          </a:p>
        </p:txBody>
      </p:sp>
      <p:sp>
        <p:nvSpPr>
          <p:cNvPr id="7" name="Oval 6"/>
          <p:cNvSpPr/>
          <p:nvPr/>
        </p:nvSpPr>
        <p:spPr>
          <a:xfrm>
            <a:off x="8933688" y="292608"/>
            <a:ext cx="347472" cy="347472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33688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1</a:t>
            </a:r>
          </a:p>
        </p:txBody>
      </p:sp>
      <p:sp>
        <p:nvSpPr>
          <p:cNvPr id="9" name="Oval 8"/>
          <p:cNvSpPr/>
          <p:nvPr/>
        </p:nvSpPr>
        <p:spPr>
          <a:xfrm>
            <a:off x="9500616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0616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2</a:t>
            </a:r>
          </a:p>
        </p:txBody>
      </p:sp>
      <p:sp>
        <p:nvSpPr>
          <p:cNvPr id="11" name="Oval 10"/>
          <p:cNvSpPr/>
          <p:nvPr/>
        </p:nvSpPr>
        <p:spPr>
          <a:xfrm>
            <a:off x="10067544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67544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3</a:t>
            </a:r>
          </a:p>
        </p:txBody>
      </p:sp>
      <p:sp>
        <p:nvSpPr>
          <p:cNvPr id="13" name="Oval 12"/>
          <p:cNvSpPr/>
          <p:nvPr/>
        </p:nvSpPr>
        <p:spPr>
          <a:xfrm>
            <a:off x="10634472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34472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4</a:t>
            </a:r>
          </a:p>
        </p:txBody>
      </p:sp>
      <p:sp>
        <p:nvSpPr>
          <p:cNvPr id="15" name="Oval 14"/>
          <p:cNvSpPr/>
          <p:nvPr/>
        </p:nvSpPr>
        <p:spPr>
          <a:xfrm>
            <a:off x="11201400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201400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804672"/>
            <a:ext cx="11448288" cy="530352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877824"/>
            <a:ext cx="1108252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Noto Sans CJK JP"/>
              </a:rPr>
              <a:t>3枚目の③　人と議論したあと、Copilotでもう一度整えた版。①より量が多く、開示書に近い。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1444752"/>
            <a:ext cx="11448288" cy="4937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1444752"/>
            <a:ext cx="109728" cy="4937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1572768"/>
            <a:ext cx="1092708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2D2D2D"/>
                </a:solidFill>
                <a:latin typeface="Noto Sans CJK JP"/>
              </a:rPr>
              <a:t>調査の目的（1回目）：背景をつかむことと、あとで書くクレーム案が近い先行特許に正面から被らないよう、方向だけ決めること。衝突の最終判断はしない。PatentSQUAREは使わない。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2D2D2D"/>
                </a:solidFill>
                <a:latin typeface="Noto Sans CJK JP"/>
              </a:rPr>
              <a:t>検索語（確定版）：安全計装／SIS／SIF／HAZOP／C&amp;E／FBD／インターロック／ロジック自動生成／SIL検証／トレーサビリティ。英語：safety instrumented system, cause and effect matrix, automatic generation, SIL verification。必須の絞り込み語は「検証」または「追跡」。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2D2D2D"/>
                </a:solidFill>
                <a:latin typeface="Noto Sans CJK JP"/>
              </a:rPr>
              <a:t>近い先行特許の型（Copilotが見立てた例）：A ルールでC&amp;Eを自動生成する　B インターロックロジックをライブラリから組み立てる　C SIL計算を支援する　D HAZOP支援だが成果物への追跡がない。いずれも『生成まで』または『検証だけ』で止まっていることが多い。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2D2D2D"/>
                </a:solidFill>
                <a:latin typeface="Noto Sans CJK JP"/>
              </a:rPr>
              <a:t>似ている点：HAZOPやルールからロジックを自動で作る、という言い方。違う点：検証結果を設計成果物へ戻すか、HAZOP項目と素子の対応表を出すか、人が例外を確認する点を残すか。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2D2D2D"/>
                </a:solidFill>
                <a:latin typeface="Noto Sans CJK JP"/>
              </a:rPr>
              <a:t>決めた方向（クレームの核の候補）：独立項の核は『自動生成』に置かない。『合成＋検証＋設計への反映＋対応の記録』に置く。文言はStep 4まで書かない。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2D2D2D"/>
                </a:solidFill>
                <a:latin typeface="Noto Sans CJK JP"/>
              </a:rPr>
              <a:t>次に進む条件：似ている点／違う点と、避ける方向を一言で言える。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7772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565392"/>
            <a:ext cx="1097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6858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1F4E79"/>
                </a:solidFill>
                <a:latin typeface="Noto Sans CJK JP"/>
              </a:rPr>
              <a:t>Step 2　本発明を具体化する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52360" y="292608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Noto Sans CJK JP"/>
              </a:rPr>
              <a:t>いまここ</a:t>
            </a:r>
          </a:p>
        </p:txBody>
      </p:sp>
      <p:sp>
        <p:nvSpPr>
          <p:cNvPr id="5" name="Oval 4"/>
          <p:cNvSpPr/>
          <p:nvPr/>
        </p:nvSpPr>
        <p:spPr>
          <a:xfrm>
            <a:off x="8366760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66760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0</a:t>
            </a:r>
          </a:p>
        </p:txBody>
      </p:sp>
      <p:sp>
        <p:nvSpPr>
          <p:cNvPr id="7" name="Oval 6"/>
          <p:cNvSpPr/>
          <p:nvPr/>
        </p:nvSpPr>
        <p:spPr>
          <a:xfrm>
            <a:off x="8933688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33688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1</a:t>
            </a:r>
          </a:p>
        </p:txBody>
      </p:sp>
      <p:sp>
        <p:nvSpPr>
          <p:cNvPr id="9" name="Oval 8"/>
          <p:cNvSpPr/>
          <p:nvPr/>
        </p:nvSpPr>
        <p:spPr>
          <a:xfrm>
            <a:off x="9500616" y="292608"/>
            <a:ext cx="347472" cy="347472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0616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2</a:t>
            </a:r>
          </a:p>
        </p:txBody>
      </p:sp>
      <p:sp>
        <p:nvSpPr>
          <p:cNvPr id="11" name="Oval 10"/>
          <p:cNvSpPr/>
          <p:nvPr/>
        </p:nvSpPr>
        <p:spPr>
          <a:xfrm>
            <a:off x="10067544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67544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3</a:t>
            </a:r>
          </a:p>
        </p:txBody>
      </p:sp>
      <p:sp>
        <p:nvSpPr>
          <p:cNvPr id="13" name="Oval 12"/>
          <p:cNvSpPr/>
          <p:nvPr/>
        </p:nvSpPr>
        <p:spPr>
          <a:xfrm>
            <a:off x="10634472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34472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4</a:t>
            </a:r>
          </a:p>
        </p:txBody>
      </p:sp>
      <p:sp>
        <p:nvSpPr>
          <p:cNvPr id="15" name="Oval 14"/>
          <p:cNvSpPr/>
          <p:nvPr/>
        </p:nvSpPr>
        <p:spPr>
          <a:xfrm>
            <a:off x="11201400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201400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804672"/>
            <a:ext cx="11448288" cy="86868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841248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  <a:latin typeface="Noto Sans CJK JP"/>
              </a:rPr>
              <a:t>このStepのゴール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078992"/>
            <a:ext cx="1108252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Noto Sans CJK JP"/>
              </a:rPr>
              <a:t>構成・処理の流れ・先行特許にない点が説明できる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1755648"/>
            <a:ext cx="11448288" cy="384048"/>
          </a:xfrm>
          <a:prstGeom prst="roundRect">
            <a:avLst>
              <a:gd name="adj" fmla="val 10000"/>
            </a:avLst>
          </a:prstGeom>
          <a:solidFill>
            <a:srgbClr val="FDF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1792224"/>
            <a:ext cx="1117396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  <a:latin typeface="Noto Sans CJK JP"/>
              </a:rPr>
              <a:t>次へ進む前の確認　□ 入力→処理→出力と、「先行特許にないところ」を指差せる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2212848"/>
            <a:ext cx="3730752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2249424"/>
            <a:ext cx="35478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Noto Sans CJK JP"/>
              </a:rPr>
              <a:t>やること 1　Step 1で見た先行特許を踏まえる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24528" y="2212848"/>
            <a:ext cx="3730752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34256" y="2249424"/>
            <a:ext cx="35478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Noto Sans CJK JP"/>
              </a:rPr>
              <a:t>やること 2　入力・処理・出力に分けて書く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83296" y="2212848"/>
            <a:ext cx="3730752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93024" y="2249424"/>
            <a:ext cx="35478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Noto Sans CJK JP"/>
              </a:rPr>
              <a:t>やること 3　先行特許にないところだけ厚くする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2743200"/>
            <a:ext cx="11448288" cy="3703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2743200"/>
            <a:ext cx="109728" cy="37033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2816352"/>
            <a:ext cx="1108252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4E79"/>
                </a:solidFill>
                <a:latin typeface="Noto Sans CJK JP"/>
              </a:rPr>
              <a:t>あなた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3017520"/>
            <a:ext cx="11082528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  <a:latin typeface="Noto Sans CJK JP"/>
              </a:rPr>
              <a:t>先行特許にはルールベースのロジック自動生成があります。本発明の違いを、システム構成と処理の流れで具体化してください。人が確認する点も残してください。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621024"/>
            <a:ext cx="11082528" cy="13716"/>
          </a:xfrm>
          <a:prstGeom prst="rect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675888"/>
            <a:ext cx="1108252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E75B6"/>
                </a:solidFill>
                <a:latin typeface="Noto Sans CJK JP"/>
              </a:rPr>
              <a:t>回答例（① 60点の素案）　※3枚目の①。人と直す前。Copilotでも同じ聞き方でよい。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3913632"/>
            <a:ext cx="11036808" cy="2423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先行特許の『ルールでロジックを自動生成する』は残しつつ、本発明が厚いところ（検証と追跡）を構成と流れで書きます。ここが後の差の表とクレームの材料になります。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構成　①入力部：HAZOP表、機器リスト、必要ならP&amp;IDのタグ　②知識ベース：SIFパターン、禁止組み合わせ、命名規則　③合成エンジン：シナリオからC&amp;E／FBDを生成　④検証部：SIL計算、入力とロジックの整合チェック　⑤出力部：設計書、追跡表　⑥人が見る点：例外シナリオ、特殊インターロック、不合格時の方針。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流れ　取り込む → シナリオをSIF候補にする → 知識ベースを参照してロジックを合成する → 検証する → 成果物と追跡表を出す。不合格なら合成に戻る。人が確認してから確定する。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先行特許との差　先行特許は生成までが多い。本発明は検証結果を設計成果物へ戻し、HAZOPの原因−SIF−素子の対応を残す。自動生成そのものは差になりにくいので、ここを具体例つきで書いてください。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7772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565392"/>
            <a:ext cx="1097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6858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1F4E79"/>
                </a:solidFill>
                <a:latin typeface="Noto Sans CJK JP"/>
              </a:rPr>
              <a:t>Step 2　仕上げ（③）　構成と流れ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52360" y="292608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Noto Sans CJK JP"/>
              </a:rPr>
              <a:t>いまここ</a:t>
            </a:r>
          </a:p>
        </p:txBody>
      </p:sp>
      <p:sp>
        <p:nvSpPr>
          <p:cNvPr id="5" name="Oval 4"/>
          <p:cNvSpPr/>
          <p:nvPr/>
        </p:nvSpPr>
        <p:spPr>
          <a:xfrm>
            <a:off x="8366760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66760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0</a:t>
            </a:r>
          </a:p>
        </p:txBody>
      </p:sp>
      <p:sp>
        <p:nvSpPr>
          <p:cNvPr id="7" name="Oval 6"/>
          <p:cNvSpPr/>
          <p:nvPr/>
        </p:nvSpPr>
        <p:spPr>
          <a:xfrm>
            <a:off x="8933688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33688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1</a:t>
            </a:r>
          </a:p>
        </p:txBody>
      </p:sp>
      <p:sp>
        <p:nvSpPr>
          <p:cNvPr id="9" name="Oval 8"/>
          <p:cNvSpPr/>
          <p:nvPr/>
        </p:nvSpPr>
        <p:spPr>
          <a:xfrm>
            <a:off x="9500616" y="292608"/>
            <a:ext cx="347472" cy="347472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0616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2</a:t>
            </a:r>
          </a:p>
        </p:txBody>
      </p:sp>
      <p:sp>
        <p:nvSpPr>
          <p:cNvPr id="11" name="Oval 10"/>
          <p:cNvSpPr/>
          <p:nvPr/>
        </p:nvSpPr>
        <p:spPr>
          <a:xfrm>
            <a:off x="10067544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67544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3</a:t>
            </a:r>
          </a:p>
        </p:txBody>
      </p:sp>
      <p:sp>
        <p:nvSpPr>
          <p:cNvPr id="13" name="Oval 12"/>
          <p:cNvSpPr/>
          <p:nvPr/>
        </p:nvSpPr>
        <p:spPr>
          <a:xfrm>
            <a:off x="10634472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34472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4</a:t>
            </a:r>
          </a:p>
        </p:txBody>
      </p:sp>
      <p:sp>
        <p:nvSpPr>
          <p:cNvPr id="15" name="Oval 14"/>
          <p:cNvSpPr/>
          <p:nvPr/>
        </p:nvSpPr>
        <p:spPr>
          <a:xfrm>
            <a:off x="11201400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201400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804672"/>
            <a:ext cx="11448288" cy="530352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877824"/>
            <a:ext cx="1108252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Noto Sans CJK JP"/>
              </a:rPr>
              <a:t>3枚目の③　人と議論したあと、Copilotでもう一度整えた版。①より量が多く、開示書に近い。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1444752"/>
            <a:ext cx="11448288" cy="4937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1444752"/>
            <a:ext cx="109728" cy="4937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1572768"/>
            <a:ext cx="1092708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2D2D2D"/>
                </a:solidFill>
                <a:latin typeface="Noto Sans CJK JP"/>
              </a:rPr>
              <a:t>システム構成（開示書3.3向け）：(1)入力部はHAZOP表、機器リスト、任意でP&amp;IDタグを取り込む。(2)知識ベースはSIFパターン、禁止組み合わせ、命名規則を持つ。(3)合成エンジンはシナリオからC&amp;EとFBDを生成する。(4)検証部はSIL計算と、入力項目とロジックの整合を見る。(5)出力部は設計書と追跡表を出す。(6)人が見る点は、例外シナリオ、特殊インターロック、不合格時の方針である。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2D2D2D"/>
                </a:solidFill>
                <a:latin typeface="Noto Sans CJK JP"/>
              </a:rPr>
              <a:t>処理の流れ：取り込む → シナリオをSIF候補にする → 知識ベースを参照して合成する → 検証する → 成果物と追跡表を出す。不合格なら合成に戻る。人が確認してから確定する。確定後に設計変更が入った場合は、追跡表から影響範囲を出して再検証する。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2D2D2D"/>
                </a:solidFill>
                <a:latin typeface="Noto Sans CJK JP"/>
              </a:rPr>
              <a:t>先行特許にないところ（厚く書く）：検証結果を設計成果物へ戻すこと。HAZOPの原因−SIF−素子の対応を記録すること。不合格時に合成へ戻る閉じたループを持つこと。人が例外を確認する点を、システム構成の一部として残すこと。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2D2D2D"/>
                </a:solidFill>
                <a:latin typeface="Noto Sans CJK JP"/>
              </a:rPr>
              <a:t>先行特許と重なりやすいところ（薄く書く）：ルールベースであること、ロジックを自動生成すること自体。ここを独立項の核にしない。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2D2D2D"/>
                </a:solidFill>
                <a:latin typeface="Noto Sans CJK JP"/>
              </a:rPr>
              <a:t>図にする対象：図1 従来フロー　図2 本発明の構成　図3 処理の流れ　図4 追跡表の例。図はあとでCopilotにGraphvizで作らせる。社外ツールは使わない。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7772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565392"/>
            <a:ext cx="1097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6858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1F4E79"/>
                </a:solidFill>
                <a:latin typeface="Noto Sans CJK JP"/>
              </a:rPr>
              <a:t>Step 3　従来技術との差を表にする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52360" y="292608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Noto Sans CJK JP"/>
              </a:rPr>
              <a:t>いまここ</a:t>
            </a:r>
          </a:p>
        </p:txBody>
      </p:sp>
      <p:sp>
        <p:nvSpPr>
          <p:cNvPr id="5" name="Oval 4"/>
          <p:cNvSpPr/>
          <p:nvPr/>
        </p:nvSpPr>
        <p:spPr>
          <a:xfrm>
            <a:off x="8366760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66760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0</a:t>
            </a:r>
          </a:p>
        </p:txBody>
      </p:sp>
      <p:sp>
        <p:nvSpPr>
          <p:cNvPr id="7" name="Oval 6"/>
          <p:cNvSpPr/>
          <p:nvPr/>
        </p:nvSpPr>
        <p:spPr>
          <a:xfrm>
            <a:off x="8933688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33688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1</a:t>
            </a:r>
          </a:p>
        </p:txBody>
      </p:sp>
      <p:sp>
        <p:nvSpPr>
          <p:cNvPr id="9" name="Oval 8"/>
          <p:cNvSpPr/>
          <p:nvPr/>
        </p:nvSpPr>
        <p:spPr>
          <a:xfrm>
            <a:off x="9500616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0616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2</a:t>
            </a:r>
          </a:p>
        </p:txBody>
      </p:sp>
      <p:sp>
        <p:nvSpPr>
          <p:cNvPr id="11" name="Oval 10"/>
          <p:cNvSpPr/>
          <p:nvPr/>
        </p:nvSpPr>
        <p:spPr>
          <a:xfrm>
            <a:off x="10067544" y="292608"/>
            <a:ext cx="347472" cy="347472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67544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3</a:t>
            </a:r>
          </a:p>
        </p:txBody>
      </p:sp>
      <p:sp>
        <p:nvSpPr>
          <p:cNvPr id="13" name="Oval 12"/>
          <p:cNvSpPr/>
          <p:nvPr/>
        </p:nvSpPr>
        <p:spPr>
          <a:xfrm>
            <a:off x="10634472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34472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4</a:t>
            </a:r>
          </a:p>
        </p:txBody>
      </p:sp>
      <p:sp>
        <p:nvSpPr>
          <p:cNvPr id="15" name="Oval 14"/>
          <p:cNvSpPr/>
          <p:nvPr/>
        </p:nvSpPr>
        <p:spPr>
          <a:xfrm>
            <a:off x="11201400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201400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804672"/>
            <a:ext cx="11448288" cy="86868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841248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  <a:latin typeface="Noto Sans CJK JP"/>
              </a:rPr>
              <a:t>このStepのゴール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078992"/>
            <a:ext cx="1108252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Noto Sans CJK JP"/>
              </a:rPr>
              <a:t>従来／課題／差／優位性が、1枚の表で対比できる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1755648"/>
            <a:ext cx="11448288" cy="384048"/>
          </a:xfrm>
          <a:prstGeom prst="roundRect">
            <a:avLst>
              <a:gd name="adj" fmla="val 10000"/>
            </a:avLst>
          </a:prstGeom>
          <a:solidFill>
            <a:srgbClr val="FDF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1792224"/>
            <a:ext cx="1117396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  <a:latin typeface="Noto Sans CJK JP"/>
              </a:rPr>
              <a:t>次へ進む前の確認　□ 表の「差」の行を、人が見ても同じ理解になる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2212848"/>
            <a:ext cx="3730752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2249424"/>
            <a:ext cx="35478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Noto Sans CJK JP"/>
              </a:rPr>
              <a:t>やること 1　先行特許の要約を入力する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24528" y="2212848"/>
            <a:ext cx="3730752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34256" y="2249424"/>
            <a:ext cx="35478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Noto Sans CJK JP"/>
              </a:rPr>
              <a:t>やること 2　本発明との差だけ残す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83296" y="2212848"/>
            <a:ext cx="3730752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93024" y="2249424"/>
            <a:ext cx="35478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Noto Sans CJK JP"/>
              </a:rPr>
              <a:t>やること 3　差がない項目は狙いをずらす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2743200"/>
            <a:ext cx="11448288" cy="3703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2743200"/>
            <a:ext cx="109728" cy="37033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2816352"/>
            <a:ext cx="1108252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4E79"/>
                </a:solidFill>
                <a:latin typeface="Noto Sans CJK JP"/>
              </a:rPr>
              <a:t>あなた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3017520"/>
            <a:ext cx="11082528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  <a:latin typeface="Noto Sans CJK JP"/>
              </a:rPr>
              <a:t>先行特許は「ルールでロジックを自動生成するが、SIL検証と変更追跡はない」とします。本発明との差を、従来／課題／差／優位性の表にしてください。差が弱い欄も指摘してください。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621024"/>
            <a:ext cx="11082528" cy="13716"/>
          </a:xfrm>
          <a:prstGeom prst="rect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675888"/>
            <a:ext cx="1108252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E75B6"/>
                </a:solidFill>
                <a:latin typeface="Noto Sans CJK JP"/>
              </a:rPr>
              <a:t>回答例（① 60点の素案）　※3枚目の①。人と直す前。Copilotでも同じ聞き方でよい。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3913632"/>
            <a:ext cx="11036808" cy="2423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仮定どおり『生成はあるが、検証と追跡はない』として対比します。表は開示書の2.2（従来の問題）と3.4（効果）にそのまま使えます。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従来　HAZOP後にC&amp;E／FBDを手作業。一部ツールはルールでロジックだけ自動生成する。検証と設計変更の反映は別作業のまま。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従来の課題　転記ミスと属人化が残る。生成結果の根拠が残らない。変更が入ると、どのHAZOP項目とどの素子を直すかが追えない。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差　本発明は合成に加え、検証部を持ち、検証結果を成果物へ戻す。HAZOP原因−SIF−素子の追跡表を出す。不合格時は合成に戻る。人が例外を確認する点を残す。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優位性　漏れに気づきやすい。レビューが追跡表でできる。変更時に影響範囲が見える。担当者による切り方のぶれを知識ベースで抑えやすい。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差が弱い欄　『自動生成すること自体』『ルールベースであること』は先行特許と重なりやすい。クレームの核にしない。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7772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565392"/>
            <a:ext cx="1097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6858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1F4E79"/>
                </a:solidFill>
                <a:latin typeface="Noto Sans CJK JP"/>
              </a:rPr>
              <a:t>Step 3　仕上げ（③）　差の表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52360" y="292608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Noto Sans CJK JP"/>
              </a:rPr>
              <a:t>いまここ</a:t>
            </a:r>
          </a:p>
        </p:txBody>
      </p:sp>
      <p:sp>
        <p:nvSpPr>
          <p:cNvPr id="5" name="Oval 4"/>
          <p:cNvSpPr/>
          <p:nvPr/>
        </p:nvSpPr>
        <p:spPr>
          <a:xfrm>
            <a:off x="8366760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66760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0</a:t>
            </a:r>
          </a:p>
        </p:txBody>
      </p:sp>
      <p:sp>
        <p:nvSpPr>
          <p:cNvPr id="7" name="Oval 6"/>
          <p:cNvSpPr/>
          <p:nvPr/>
        </p:nvSpPr>
        <p:spPr>
          <a:xfrm>
            <a:off x="8933688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33688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1</a:t>
            </a:r>
          </a:p>
        </p:txBody>
      </p:sp>
      <p:sp>
        <p:nvSpPr>
          <p:cNvPr id="9" name="Oval 8"/>
          <p:cNvSpPr/>
          <p:nvPr/>
        </p:nvSpPr>
        <p:spPr>
          <a:xfrm>
            <a:off x="9500616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0616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2</a:t>
            </a:r>
          </a:p>
        </p:txBody>
      </p:sp>
      <p:sp>
        <p:nvSpPr>
          <p:cNvPr id="11" name="Oval 10"/>
          <p:cNvSpPr/>
          <p:nvPr/>
        </p:nvSpPr>
        <p:spPr>
          <a:xfrm>
            <a:off x="10067544" y="292608"/>
            <a:ext cx="347472" cy="347472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67544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3</a:t>
            </a:r>
          </a:p>
        </p:txBody>
      </p:sp>
      <p:sp>
        <p:nvSpPr>
          <p:cNvPr id="13" name="Oval 12"/>
          <p:cNvSpPr/>
          <p:nvPr/>
        </p:nvSpPr>
        <p:spPr>
          <a:xfrm>
            <a:off x="10634472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34472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4</a:t>
            </a:r>
          </a:p>
        </p:txBody>
      </p:sp>
      <p:sp>
        <p:nvSpPr>
          <p:cNvPr id="15" name="Oval 14"/>
          <p:cNvSpPr/>
          <p:nvPr/>
        </p:nvSpPr>
        <p:spPr>
          <a:xfrm>
            <a:off x="11201400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201400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804672"/>
            <a:ext cx="11448288" cy="530352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877824"/>
            <a:ext cx="1108252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Noto Sans CJK JP"/>
              </a:rPr>
              <a:t>3枚目の③　人と議論したあと、Copilotでもう一度整えた版。①より量が多く、開示書に近い。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1444752"/>
            <a:ext cx="11448288" cy="4937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1444752"/>
            <a:ext cx="109728" cy="4937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1572768"/>
            <a:ext cx="1092708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2D2D2D"/>
                </a:solidFill>
                <a:latin typeface="Noto Sans CJK JP"/>
              </a:rPr>
              <a:t>対比表（開示書2.2／3.4に写す）：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2D2D2D"/>
                </a:solidFill>
                <a:latin typeface="Noto Sans CJK JP"/>
              </a:rPr>
              <a:t>項目／従来／本発明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2D2D2D"/>
                </a:solidFill>
                <a:latin typeface="Noto Sans CJK JP"/>
              </a:rPr>
              <a:t>ロジック作成　手作業、またはルールで生成まで　合成したあと検証し、不合格なら合成に戻る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2D2D2D"/>
                </a:solidFill>
                <a:latin typeface="Noto Sans CJK JP"/>
              </a:rPr>
              <a:t>検証　別ツール。結果の転記は手作業　検証部を持ち、結果を設計成果物へ戻す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2D2D2D"/>
                </a:solidFill>
                <a:latin typeface="Noto Sans CJK JP"/>
              </a:rPr>
              <a:t>変更追跡　担当者の記憶と個別メモ　HAZOP原因−SIF−素子の追跡表を出す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2D2D2D"/>
                </a:solidFill>
                <a:latin typeface="Noto Sans CJK JP"/>
              </a:rPr>
              <a:t>人の関与　切り方も確認も人に依存　例外と特殊インターロックだけ人が確認する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2D2D2D"/>
                </a:solidFill>
                <a:latin typeface="Noto Sans CJK JP"/>
              </a:rPr>
              <a:t>差の核：検証結果の設計への反映、入力項目と素子の対応の記録。差が弱い欄：自動生成、ルールベース。核にしない。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2D2D2D"/>
                </a:solidFill>
                <a:latin typeface="Noto Sans CJK JP"/>
              </a:rPr>
              <a:t>優位性：漏れに気づきやすい。レビューが追跡表でできる。変更時に影響範囲が見える。命名と切り方のぶれを知識ベースで抑えやすい。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2D2D2D"/>
                </a:solidFill>
                <a:latin typeface="Noto Sans CJK JP"/>
              </a:rPr>
              <a:t>使い方：この表を人が読んで、差の行の意味が同じになるか確認する。同じにならなければ、Step 2の構成の書き方を直してから表を更新する。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7772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565392"/>
            <a:ext cx="1097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6858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1F4E79"/>
                </a:solidFill>
                <a:latin typeface="Noto Sans CJK JP"/>
              </a:rPr>
              <a:t>Step 4　クレーム案と発展例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52360" y="292608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Noto Sans CJK JP"/>
              </a:rPr>
              <a:t>いまここ</a:t>
            </a:r>
          </a:p>
        </p:txBody>
      </p:sp>
      <p:sp>
        <p:nvSpPr>
          <p:cNvPr id="5" name="Oval 4"/>
          <p:cNvSpPr/>
          <p:nvPr/>
        </p:nvSpPr>
        <p:spPr>
          <a:xfrm>
            <a:off x="8366760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66760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0</a:t>
            </a:r>
          </a:p>
        </p:txBody>
      </p:sp>
      <p:sp>
        <p:nvSpPr>
          <p:cNvPr id="7" name="Oval 6"/>
          <p:cNvSpPr/>
          <p:nvPr/>
        </p:nvSpPr>
        <p:spPr>
          <a:xfrm>
            <a:off x="8933688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33688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1</a:t>
            </a:r>
          </a:p>
        </p:txBody>
      </p:sp>
      <p:sp>
        <p:nvSpPr>
          <p:cNvPr id="9" name="Oval 8"/>
          <p:cNvSpPr/>
          <p:nvPr/>
        </p:nvSpPr>
        <p:spPr>
          <a:xfrm>
            <a:off x="9500616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0616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2</a:t>
            </a:r>
          </a:p>
        </p:txBody>
      </p:sp>
      <p:sp>
        <p:nvSpPr>
          <p:cNvPr id="11" name="Oval 10"/>
          <p:cNvSpPr/>
          <p:nvPr/>
        </p:nvSpPr>
        <p:spPr>
          <a:xfrm>
            <a:off x="10067544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67544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3</a:t>
            </a:r>
          </a:p>
        </p:txBody>
      </p:sp>
      <p:sp>
        <p:nvSpPr>
          <p:cNvPr id="13" name="Oval 12"/>
          <p:cNvSpPr/>
          <p:nvPr/>
        </p:nvSpPr>
        <p:spPr>
          <a:xfrm>
            <a:off x="10634472" y="292608"/>
            <a:ext cx="347472" cy="347472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34472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4</a:t>
            </a:r>
          </a:p>
        </p:txBody>
      </p:sp>
      <p:sp>
        <p:nvSpPr>
          <p:cNvPr id="15" name="Oval 14"/>
          <p:cNvSpPr/>
          <p:nvPr/>
        </p:nvSpPr>
        <p:spPr>
          <a:xfrm>
            <a:off x="11201400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201400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804672"/>
            <a:ext cx="11448288" cy="86868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841248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  <a:latin typeface="Noto Sans CJK JP"/>
              </a:rPr>
              <a:t>このStepのゴール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078992"/>
            <a:ext cx="1108252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Noto Sans CJK JP"/>
              </a:rPr>
              <a:t>先行特許と被りにくい保護範囲の案がある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1755648"/>
            <a:ext cx="11448288" cy="384048"/>
          </a:xfrm>
          <a:prstGeom prst="roundRect">
            <a:avLst>
              <a:gd name="adj" fmla="val 10000"/>
            </a:avLst>
          </a:prstGeom>
          <a:solidFill>
            <a:srgbClr val="FDF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1792224"/>
            <a:ext cx="1117396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  <a:latin typeface="Noto Sans CJK JP"/>
              </a:rPr>
              <a:t>次へ進む前の確認　□ 独立項が「差の核」だけになっており、自動生成だけでは終わっていない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2212848"/>
            <a:ext cx="3730752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2249424"/>
            <a:ext cx="35478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Noto Sans CJK JP"/>
              </a:rPr>
              <a:t>やること 1　独立項は差の核だけにする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24528" y="2212848"/>
            <a:ext cx="3730752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34256" y="2249424"/>
            <a:ext cx="35478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Noto Sans CJK JP"/>
              </a:rPr>
              <a:t>やること 2　従属項で変形・適用を広げる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83296" y="2212848"/>
            <a:ext cx="3730752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93024" y="2249424"/>
            <a:ext cx="35478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Noto Sans CJK JP"/>
              </a:rPr>
              <a:t>やること 3　将来の派生テーマも一行で残す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2743200"/>
            <a:ext cx="11448288" cy="3703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2743200"/>
            <a:ext cx="109728" cy="37033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2816352"/>
            <a:ext cx="1108252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4E79"/>
                </a:solidFill>
                <a:latin typeface="Noto Sans CJK JP"/>
              </a:rPr>
              <a:t>あなた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3017520"/>
            <a:ext cx="11082528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  <a:latin typeface="Noto Sans CJK JP"/>
              </a:rPr>
              <a:t>上の差を踏まえ、先行特許と被りにくい独立クレームの骨格と、従属クレーム・発展例の案を作ってください。独立項が『自動生成』だけで終わらないようにしてください。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621024"/>
            <a:ext cx="11082528" cy="13716"/>
          </a:xfrm>
          <a:prstGeom prst="rect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675888"/>
            <a:ext cx="1108252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E75B6"/>
                </a:solidFill>
                <a:latin typeface="Noto Sans CJK JP"/>
              </a:rPr>
              <a:t>回答例（① 60点の素案）　※3枚目の①。人と直す前。Copilotでも同じ聞き方でよい。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3913632"/>
            <a:ext cx="11036808" cy="2423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独立項は差の核だけにします。『ロジックを自動生成する手段』だけで始めると、Step 1で見た先行特許に被りやすいです。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独立項の核　HAZOP等の入力を取り込む手段と、SIFロジックを合成する手段と、合成結果を検証する手段と、検証結果を設計成果物へ反映する手段と、入力項目とロジック素子の対応を記録する手段、を備える。ポイントは『検証して戻す』と『対応を記録する』が落ちないこと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従属の例　知識ベースを更新する、不合格時に再合成する、追跡表を出力する、人が例外を確認してから確定する、複数プラントへ展開する、P&amp;IDタグと対応づける。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発展例　運転中のインターロック見直し、異常検知ロジックへの展開、規則の学習による知識ベース更新。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派生テーマ　検証結果の説明文生成、HAZOP支援ツールとの接続、変更差分だけの再検証。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次はPatentSQUAREで、この骨格が先行特許と衝突しないかを見る。衝突したらStep 2へ戻る。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7772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565392"/>
            <a:ext cx="1097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6858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1F4E79"/>
                </a:solidFill>
                <a:latin typeface="Noto Sans CJK JP"/>
              </a:rPr>
              <a:t>Step 4　仕上げ（③）　クレーム案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52360" y="292608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Noto Sans CJK JP"/>
              </a:rPr>
              <a:t>いまここ</a:t>
            </a:r>
          </a:p>
        </p:txBody>
      </p:sp>
      <p:sp>
        <p:nvSpPr>
          <p:cNvPr id="5" name="Oval 4"/>
          <p:cNvSpPr/>
          <p:nvPr/>
        </p:nvSpPr>
        <p:spPr>
          <a:xfrm>
            <a:off x="8366760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66760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0</a:t>
            </a:r>
          </a:p>
        </p:txBody>
      </p:sp>
      <p:sp>
        <p:nvSpPr>
          <p:cNvPr id="7" name="Oval 6"/>
          <p:cNvSpPr/>
          <p:nvPr/>
        </p:nvSpPr>
        <p:spPr>
          <a:xfrm>
            <a:off x="8933688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33688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1</a:t>
            </a:r>
          </a:p>
        </p:txBody>
      </p:sp>
      <p:sp>
        <p:nvSpPr>
          <p:cNvPr id="9" name="Oval 8"/>
          <p:cNvSpPr/>
          <p:nvPr/>
        </p:nvSpPr>
        <p:spPr>
          <a:xfrm>
            <a:off x="9500616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0616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2</a:t>
            </a:r>
          </a:p>
        </p:txBody>
      </p:sp>
      <p:sp>
        <p:nvSpPr>
          <p:cNvPr id="11" name="Oval 10"/>
          <p:cNvSpPr/>
          <p:nvPr/>
        </p:nvSpPr>
        <p:spPr>
          <a:xfrm>
            <a:off x="10067544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67544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3</a:t>
            </a:r>
          </a:p>
        </p:txBody>
      </p:sp>
      <p:sp>
        <p:nvSpPr>
          <p:cNvPr id="13" name="Oval 12"/>
          <p:cNvSpPr/>
          <p:nvPr/>
        </p:nvSpPr>
        <p:spPr>
          <a:xfrm>
            <a:off x="10634472" y="292608"/>
            <a:ext cx="347472" cy="347472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34472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4</a:t>
            </a:r>
          </a:p>
        </p:txBody>
      </p:sp>
      <p:sp>
        <p:nvSpPr>
          <p:cNvPr id="15" name="Oval 14"/>
          <p:cNvSpPr/>
          <p:nvPr/>
        </p:nvSpPr>
        <p:spPr>
          <a:xfrm>
            <a:off x="11201400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201400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804672"/>
            <a:ext cx="11448288" cy="530352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877824"/>
            <a:ext cx="1108252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Noto Sans CJK JP"/>
              </a:rPr>
              <a:t>3枚目の③　人と議論したあと、Copilotでもう一度整えた版。①より量が多く、開示書に近い。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1444752"/>
            <a:ext cx="11448288" cy="4937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1444752"/>
            <a:ext cx="109728" cy="4937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1572768"/>
            <a:ext cx="1092708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2D2D2D"/>
                </a:solidFill>
                <a:latin typeface="Noto Sans CJK JP"/>
              </a:rPr>
              <a:t>独立項の骨格（差の核だけ）：HAZOP等の危険シナリオを取り込む手段、知識ベースを参照してSIFロジックを合成する手段、合成結果を検証する手段、検証結果を設計成果物へ反映する手段、入力項目とロジック素子の対応を記録する手段、を備えるシステム。自動生成する手段、だけでは独立項にしない。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2D2D2D"/>
                </a:solidFill>
                <a:latin typeface="Noto Sans CJK JP"/>
              </a:rPr>
              <a:t>従属項：知識ベースを更新する／不合格時に再合成する／追跡表を出力する／人が例外を確認してから確定する／P&amp;IDタグと対応づける／複数プラントへ展開する。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2D2D2D"/>
                </a:solidFill>
                <a:latin typeface="Noto Sans CJK JP"/>
              </a:rPr>
              <a:t>発展例：運転中のインターロック見直し。異常検知ロジックへの展開。規則の学習による知識ベース更新。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2D2D2D"/>
                </a:solidFill>
                <a:latin typeface="Noto Sans CJK JP"/>
              </a:rPr>
              <a:t>派生テーマ（一行）：検証結果の説明文生成。HAZOP支援ツールとの接続。変更差分だけの再検証。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2D2D2D"/>
                </a:solidFill>
                <a:latin typeface="Noto Sans CJK JP"/>
              </a:rPr>
              <a:t>まだやらないこと：この文言をANAQUAに登録すること。先に、Step 4と5の間で衝突確認をする。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2D2D2D"/>
                </a:solidFill>
                <a:latin typeface="Noto Sans CJK JP"/>
              </a:rPr>
              <a:t>次に進む条件：独立項を読んで、『自動生成だけ』に見えない。見えたら核を差の2点（戻す／記録する）に戻す。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7772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565392"/>
            <a:ext cx="1097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1F4E79"/>
                </a:solidFill>
                <a:latin typeface="Noto Sans CJK JP"/>
              </a:rPr>
              <a:t>Step 4と5の間　クレーム案の衝突確認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Noto Sans CJK JP"/>
              </a:rPr>
              <a:t>ここがPatentSQUAREの出番。衝突したら Step 2 へ戻る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80160"/>
            <a:ext cx="11338560" cy="105156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53312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  <a:latin typeface="Noto Sans CJK JP"/>
              </a:rPr>
              <a:t>この確認のゴール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27632"/>
            <a:ext cx="10972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Noto Sans CJK JP"/>
              </a:rPr>
              <a:t>作ったクレーム案が、先行特許と衝突しないと判断できる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2514600"/>
            <a:ext cx="11338560" cy="11155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624328"/>
            <a:ext cx="2011680" cy="896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Noto Sans CJK JP"/>
              </a:rPr>
              <a:t>やること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679192"/>
            <a:ext cx="87325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Noto Sans CJK JP"/>
              </a:rPr>
              <a:t>PatentSQUAREで、独立項の核に近い文献を見る。使い方は本マニュアルでは説明しない。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3749040"/>
            <a:ext cx="11338560" cy="11155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858768"/>
            <a:ext cx="2011680" cy="896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Noto Sans CJK JP"/>
              </a:rPr>
              <a:t>判断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3913632"/>
            <a:ext cx="87325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Noto Sans CJK JP"/>
              </a:rPr>
              <a:t>衝突する → Step 2へ戻り、構成と差をずらす。
衝突しない → Step 5へ進み、ANAQUAの章立てへ落とす。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4983480"/>
            <a:ext cx="11338560" cy="11155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093208"/>
            <a:ext cx="2011680" cy="896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Noto Sans CJK JP"/>
              </a:rPr>
              <a:t>参考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5148072"/>
            <a:ext cx="87325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Noto Sans CJK JP"/>
              </a:rPr>
              <a:t>知的財産部ホームページ（PatentSQUARE利用案内）
https://www.panasonic.com/jp/business/its/patentsquare.html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565392"/>
            <a:ext cx="7772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65392"/>
            <a:ext cx="1097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6858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1F4E79"/>
                </a:solidFill>
                <a:latin typeface="Noto Sans CJK JP"/>
              </a:rPr>
              <a:t>Step 5　ANAQUAの項目へ落とす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52360" y="292608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Noto Sans CJK JP"/>
              </a:rPr>
              <a:t>いまここ</a:t>
            </a:r>
          </a:p>
        </p:txBody>
      </p:sp>
      <p:sp>
        <p:nvSpPr>
          <p:cNvPr id="5" name="Oval 4"/>
          <p:cNvSpPr/>
          <p:nvPr/>
        </p:nvSpPr>
        <p:spPr>
          <a:xfrm>
            <a:off x="8366760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66760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0</a:t>
            </a:r>
          </a:p>
        </p:txBody>
      </p:sp>
      <p:sp>
        <p:nvSpPr>
          <p:cNvPr id="7" name="Oval 6"/>
          <p:cNvSpPr/>
          <p:nvPr/>
        </p:nvSpPr>
        <p:spPr>
          <a:xfrm>
            <a:off x="8933688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33688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1</a:t>
            </a:r>
          </a:p>
        </p:txBody>
      </p:sp>
      <p:sp>
        <p:nvSpPr>
          <p:cNvPr id="9" name="Oval 8"/>
          <p:cNvSpPr/>
          <p:nvPr/>
        </p:nvSpPr>
        <p:spPr>
          <a:xfrm>
            <a:off x="9500616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0616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2</a:t>
            </a:r>
          </a:p>
        </p:txBody>
      </p:sp>
      <p:sp>
        <p:nvSpPr>
          <p:cNvPr id="11" name="Oval 10"/>
          <p:cNvSpPr/>
          <p:nvPr/>
        </p:nvSpPr>
        <p:spPr>
          <a:xfrm>
            <a:off x="10067544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67544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3</a:t>
            </a:r>
          </a:p>
        </p:txBody>
      </p:sp>
      <p:sp>
        <p:nvSpPr>
          <p:cNvPr id="13" name="Oval 12"/>
          <p:cNvSpPr/>
          <p:nvPr/>
        </p:nvSpPr>
        <p:spPr>
          <a:xfrm>
            <a:off x="10634472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34472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4</a:t>
            </a:r>
          </a:p>
        </p:txBody>
      </p:sp>
      <p:sp>
        <p:nvSpPr>
          <p:cNvPr id="15" name="Oval 14"/>
          <p:cNvSpPr/>
          <p:nvPr/>
        </p:nvSpPr>
        <p:spPr>
          <a:xfrm>
            <a:off x="11201400" y="292608"/>
            <a:ext cx="347472" cy="347472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201400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804672"/>
            <a:ext cx="11448288" cy="86868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841248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  <a:latin typeface="Noto Sans CJK JP"/>
              </a:rPr>
              <a:t>このStepのゴール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078992"/>
            <a:ext cx="1108252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Noto Sans CJK JP"/>
              </a:rPr>
              <a:t>各項目が埋まり、課題・手段・効果・クレームが矛盾していない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1755648"/>
            <a:ext cx="11448288" cy="384048"/>
          </a:xfrm>
          <a:prstGeom prst="roundRect">
            <a:avLst>
              <a:gd name="adj" fmla="val 10000"/>
            </a:avLst>
          </a:prstGeom>
          <a:solidFill>
            <a:srgbClr val="FDF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1792224"/>
            <a:ext cx="1117396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  <a:latin typeface="Noto Sans CJK JP"/>
              </a:rPr>
              <a:t>次へ進む前の確認　□ 課題で書いた困りごとが、手段・効果・クレームのどこかに対応している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2212848"/>
            <a:ext cx="3730752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2249424"/>
            <a:ext cx="35478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Noto Sans CJK JP"/>
              </a:rPr>
              <a:t>やること 1　公式フォーマットに写す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24528" y="2212848"/>
            <a:ext cx="3730752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34256" y="2249424"/>
            <a:ext cx="35478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Noto Sans CJK JP"/>
              </a:rPr>
              <a:t>やること 2　用語をSIFなどにそろえる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83296" y="2212848"/>
            <a:ext cx="3730752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93024" y="2249424"/>
            <a:ext cx="35478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Noto Sans CJK JP"/>
              </a:rPr>
              <a:t>やること 3　矛盾チェックだけAIに頼む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2743200"/>
            <a:ext cx="11448288" cy="3703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2743200"/>
            <a:ext cx="109728" cy="37033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2816352"/>
            <a:ext cx="1108252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4E79"/>
                </a:solidFill>
                <a:latin typeface="Noto Sans CJK JP"/>
              </a:rPr>
              <a:t>あなた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3017520"/>
            <a:ext cx="11082528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  <a:latin typeface="Noto Sans CJK JP"/>
              </a:rPr>
              <a:t>課題・手段・効果・クレームに矛盾がないか見てください。「安全計装ロジック」「SIF」「インターロック」の用語もそろえてください。抜けている対応があれば指摘してください。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621024"/>
            <a:ext cx="11082528" cy="13716"/>
          </a:xfrm>
          <a:prstGeom prst="rect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675888"/>
            <a:ext cx="1108252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E75B6"/>
                </a:solidFill>
                <a:latin typeface="Noto Sans CJK JP"/>
              </a:rPr>
              <a:t>回答例（① 60点の素案）　※3枚目の①。人と直す前。Copilotでも同じ聞き方でよい。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3913632"/>
            <a:ext cx="11036808" cy="2423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並べて見ます。よくあるずれは『課題は漏れと属人化なのに、クレームが自動生成だけ』です。効果の『漏れ防止』が権利の核に残っていない、という状態です。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対応の確認　2.2の課題（転記・属人化・漏れ・変更が届かない）→ 3.3の構成（合成＋検証＋追跡）→ 3.4の効果（工数・漏れ・影響範囲）→ 5の独立項（検証して戻す、対応を記録する）。どれかが『自動生成』だけに戻っていたら、差の核が落ちています。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用語　本文とクレームで『安全計装ロジック』と『SIF』を混在させない。初出で『SIF（安全計装機能）』と定義し、以降はSIFにそろえる。インターロックはSIFを実現するロジックの呼び方として書く。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仕上げ　公式フォーマットへ写したあと、課題の困りごとが手段・効果・クレームのどこかに矢印でつながるかだけ見る。つながらない行は削るか、構成側を厚くする。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7772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565392"/>
            <a:ext cx="1097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6858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1F4E79"/>
                </a:solidFill>
                <a:latin typeface="Noto Sans CJK JP"/>
              </a:rPr>
              <a:t>Step 5　仕上げ（③）　章立てへ落とす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52360" y="292608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Noto Sans CJK JP"/>
              </a:rPr>
              <a:t>いまここ</a:t>
            </a:r>
          </a:p>
        </p:txBody>
      </p:sp>
      <p:sp>
        <p:nvSpPr>
          <p:cNvPr id="5" name="Oval 4"/>
          <p:cNvSpPr/>
          <p:nvPr/>
        </p:nvSpPr>
        <p:spPr>
          <a:xfrm>
            <a:off x="8366760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66760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0</a:t>
            </a:r>
          </a:p>
        </p:txBody>
      </p:sp>
      <p:sp>
        <p:nvSpPr>
          <p:cNvPr id="7" name="Oval 6"/>
          <p:cNvSpPr/>
          <p:nvPr/>
        </p:nvSpPr>
        <p:spPr>
          <a:xfrm>
            <a:off x="8933688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33688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1</a:t>
            </a:r>
          </a:p>
        </p:txBody>
      </p:sp>
      <p:sp>
        <p:nvSpPr>
          <p:cNvPr id="9" name="Oval 8"/>
          <p:cNvSpPr/>
          <p:nvPr/>
        </p:nvSpPr>
        <p:spPr>
          <a:xfrm>
            <a:off x="9500616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0616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2</a:t>
            </a:r>
          </a:p>
        </p:txBody>
      </p:sp>
      <p:sp>
        <p:nvSpPr>
          <p:cNvPr id="11" name="Oval 10"/>
          <p:cNvSpPr/>
          <p:nvPr/>
        </p:nvSpPr>
        <p:spPr>
          <a:xfrm>
            <a:off x="10067544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67544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3</a:t>
            </a:r>
          </a:p>
        </p:txBody>
      </p:sp>
      <p:sp>
        <p:nvSpPr>
          <p:cNvPr id="13" name="Oval 12"/>
          <p:cNvSpPr/>
          <p:nvPr/>
        </p:nvSpPr>
        <p:spPr>
          <a:xfrm>
            <a:off x="10634472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34472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4</a:t>
            </a:r>
          </a:p>
        </p:txBody>
      </p:sp>
      <p:sp>
        <p:nvSpPr>
          <p:cNvPr id="15" name="Oval 14"/>
          <p:cNvSpPr/>
          <p:nvPr/>
        </p:nvSpPr>
        <p:spPr>
          <a:xfrm>
            <a:off x="11201400" y="292608"/>
            <a:ext cx="347472" cy="347472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201400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804672"/>
            <a:ext cx="11448288" cy="530352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877824"/>
            <a:ext cx="1108252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Noto Sans CJK JP"/>
              </a:rPr>
              <a:t>3枚目の③　人と議論したあと、Copilotでもう一度整えた版。①より量が多く、開示書に近い。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1444752"/>
            <a:ext cx="11448288" cy="4937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1444752"/>
            <a:ext cx="109728" cy="4937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1572768"/>
            <a:ext cx="1092708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2D2D2D"/>
                </a:solidFill>
                <a:latin typeface="Noto Sans CJK JP"/>
              </a:rPr>
              <a:t>写す先（5枚目の章立て）：1 技術分野＝プラントSIS設計。2.1 従来の図＝手作業のC&amp;E／FBD。2.2 従来の問題＝転記・属人化・漏れ・変更が届かない。3.1 目的＝合成と検証と追跡を一つの流れにする。3.2 本発明の図＝入力・知識・合成・検証・出力。3.3 具体的内容＝Step 2の仕上げ。3.4 効果＝工数・漏れ・影響範囲。4 発展例＝Step 4の発展。5 クレーム案＝衝突確認を通った独立項と従属項。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2D2D2D"/>
                </a:solidFill>
                <a:latin typeface="Noto Sans CJK JP"/>
              </a:rPr>
              <a:t>用語（そろえた定義）：SIF（安全計装機能）。初出で定義し、以降はSIF。インターロックはSIFを実現するロジック。C&amp;Eは原因と結果の表。FBDはファンクションブロック図。SISは安全計装システム。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2D2D2D"/>
                </a:solidFill>
                <a:latin typeface="Noto Sans CJK JP"/>
              </a:rPr>
              <a:t>矛盾チェック結果（例）：課題の『漏れと変更が届かない』は、手段の検証部と追跡表、効果の漏れ低減と影響範囲、独立項の『戻す／記録する』に対応している。『自動生成』だけに戻っている行はない。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2D2D2D"/>
                </a:solidFill>
                <a:latin typeface="Noto Sans CJK JP"/>
              </a:rPr>
              <a:t>まだやらないこと：Copilotの出力をそのままANAQUAへ登録すること。人が説明できる文だけ残す。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7772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565392"/>
            <a:ext cx="1097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1F4E79"/>
                </a:solidFill>
                <a:latin typeface="Noto Sans CJK JP"/>
              </a:rPr>
              <a:t>図はCopilotの中だけで作る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Noto Sans CJK JP"/>
              </a:rPr>
              <a:t>社外のGraphvizサイトやオンラインツールは使わない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11247120" cy="1463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85800" y="1691640"/>
            <a:ext cx="640080" cy="64008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83080"/>
            <a:ext cx="640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JP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481328"/>
            <a:ext cx="9875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  <a:latin typeface="Noto Sans CJK JP"/>
              </a:rPr>
              <a:t>なぜ社外ツールを使わないか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965960"/>
            <a:ext cx="98755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D2D2D"/>
                </a:solidFill>
                <a:latin typeface="Noto Sans CJK JP"/>
              </a:rPr>
              <a:t>発明のタネを外部サイトへ貼ると、情報漏れになる。Graphviz Online などは使わない。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80360"/>
            <a:ext cx="11247120" cy="1463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85800" y="3291840"/>
            <a:ext cx="640080" cy="64008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383280"/>
            <a:ext cx="640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JP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081528"/>
            <a:ext cx="9875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  <a:latin typeface="Noto Sans CJK JP"/>
              </a:rPr>
              <a:t>何をCopilotに頼むか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566160"/>
            <a:ext cx="98755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D2D2D"/>
                </a:solidFill>
                <a:latin typeface="Noto Sans CJK JP"/>
              </a:rPr>
              <a:t>① GraphvizのDOTを書く　② 同じ会話で、その図を出す。外部サービスは指定しない。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480560"/>
            <a:ext cx="11247120" cy="1463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85800" y="4892040"/>
            <a:ext cx="640080" cy="64008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983480"/>
            <a:ext cx="640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JP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4681728"/>
            <a:ext cx="9875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  <a:latin typeface="Noto Sans CJK JP"/>
              </a:rPr>
              <a:t>自分が見ること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166360"/>
            <a:ext cx="98755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D2D2D"/>
                </a:solidFill>
                <a:latin typeface="Noto Sans CJK JP"/>
              </a:rPr>
              <a:t>素子名・矢印・分岐が、開示書の文章と一致するか。図がきれいでも中身が違うなら直す。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6565392"/>
            <a:ext cx="7772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565392"/>
            <a:ext cx="1097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1F4E79"/>
                </a:solidFill>
                <a:latin typeface="Noto Sans CJK JP"/>
              </a:rPr>
              <a:t>Copilotへの聞き方（Graphviz）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Noto Sans CJK JP"/>
              </a:rPr>
              <a:t>2回に分けて頼む。例は安全計装ロジック自動構築ツール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80160"/>
            <a:ext cx="11338560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716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Noto Sans CJK JP"/>
              </a:rPr>
              <a:t>1回目　DOTを書かせる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109728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2D2D2D"/>
                </a:solidFill>
                <a:latin typeface="Noto Sans CJK JP"/>
              </a:rPr>
              <a:t>『安全計装ロジック自動構築ツールの従来フローを、GraphvizのDOTで書いてください。HAZOP→手作業のC&amp;E→手作業のFBD→別ツールのSIL検証、の順です。社外のレンダリングサービスは使わず、コードだけ出してください。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3566160"/>
            <a:ext cx="11338560" cy="2651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36576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E75B6"/>
                </a:solidFill>
                <a:latin typeface="Noto Sans CJK JP"/>
              </a:rPr>
              <a:t>2回目　同じ会話で図を出させる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041648"/>
            <a:ext cx="109728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0">
                <a:solidFill>
                  <a:srgbClr val="2D2D2D"/>
                </a:solidFill>
                <a:latin typeface="Noto Sans CJK JP"/>
              </a:rPr>
              <a:t>『今のDOTを、この会話の中でフローチャートの図にしてください。外部サイトへ貼らないでください。図が出ないときは、PowerPointの図形で同じ流れを書いてください。』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0">
                <a:solidFill>
                  <a:srgbClr val="2D2D2D"/>
                </a:solidFill>
                <a:latin typeface="Noto Sans CJK JP"/>
              </a:rPr>
              <a:t>出てきた図を見て、名前と矢印が文章と合うか確認する。合わなければ『検証から合成へ戻る矢印を足して』と直させる。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565392"/>
            <a:ext cx="7772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65392"/>
            <a:ext cx="1097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1F4E79"/>
                </a:solidFill>
                <a:latin typeface="Noto Sans CJK JP"/>
              </a:rPr>
              <a:t>図1　従来フロー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Noto Sans CJK JP"/>
              </a:rPr>
              <a:t>手作業のC&amp;E／FBDと、別ツールのSIL検証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34440"/>
            <a:ext cx="11338560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2984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  <a:latin typeface="Noto Sans CJK JP"/>
              </a:rPr>
              <a:t>Copilotへの依頼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72768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D2D2D"/>
                </a:solidFill>
                <a:latin typeface="Noto Sans CJK JP"/>
              </a:rPr>
              <a:t>『従来のSIS設計フローをGraphvizのDOTで書いて。HAZOP→手作業C&amp;E→手作業FBD→別ツールSIL検証。社外サイトは使わず、この会話で図も出して。』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60320"/>
            <a:ext cx="113385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E75B6"/>
                </a:solidFill>
                <a:latin typeface="Noto Sans CJK JP"/>
              </a:rPr>
              <a:t>Copilotが出した図の例（このマニュアルの安全計装の例）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9260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" y="2999232"/>
            <a:ext cx="1901952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JP"/>
              </a:rPr>
              <a:t>HAZOP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459736" y="3127248"/>
            <a:ext cx="310896" cy="256032"/>
          </a:xfrm>
          <a:prstGeom prst="right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70632" y="29260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25496" y="2999232"/>
            <a:ext cx="1901952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JP"/>
              </a:rPr>
              <a:t>手作業 C&amp;E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818888" y="3127248"/>
            <a:ext cx="310896" cy="256032"/>
          </a:xfrm>
          <a:prstGeom prst="right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9784" y="29260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84648" y="2999232"/>
            <a:ext cx="1901952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JP"/>
              </a:rPr>
              <a:t>手作業 FBD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178040" y="3127248"/>
            <a:ext cx="310896" cy="256032"/>
          </a:xfrm>
          <a:prstGeom prst="right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488936" y="29260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43800" y="2999232"/>
            <a:ext cx="1901952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JP"/>
              </a:rPr>
              <a:t>別ツール
SIL検証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3840480"/>
            <a:ext cx="113385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F4E79"/>
                </a:solidFill>
                <a:latin typeface="Noto Sans CJK JP"/>
              </a:rPr>
              <a:t>見るところ：矢印がすべて『手作業／別ツール』になっているか。本発明の検証ループが混ざっていないか。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565392"/>
            <a:ext cx="7772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565392"/>
            <a:ext cx="1097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1F4E79"/>
                </a:solidFill>
                <a:latin typeface="Noto Sans CJK JP"/>
              </a:rPr>
              <a:t>図2　本発明の構成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Noto Sans CJK JP"/>
              </a:rPr>
              <a:t>入力・知識・合成・検証・出力。人が見る点も残す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34440"/>
            <a:ext cx="11338560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2984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  <a:latin typeface="Noto Sans CJK JP"/>
              </a:rPr>
              <a:t>Copilotへの依頼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72768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D2D2D"/>
                </a:solidFill>
                <a:latin typeface="Noto Sans CJK JP"/>
              </a:rPr>
              <a:t>『本発明の構成をGraphvizのDOTで書いて。入力部、知識ベース、合成エンジン、検証部、出力部、人が見る点。社外サイトは使わず、この会話で図も出して。』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60320"/>
            <a:ext cx="113385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E75B6"/>
                </a:solidFill>
                <a:latin typeface="Noto Sans CJK JP"/>
              </a:rPr>
              <a:t>Copilotが出した図の例（このマニュアルの安全計装の例）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9260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" y="2999232"/>
            <a:ext cx="1901952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JP"/>
              </a:rPr>
              <a:t>入力部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459736" y="3127248"/>
            <a:ext cx="310896" cy="256032"/>
          </a:xfrm>
          <a:prstGeom prst="right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70632" y="29260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25496" y="2999232"/>
            <a:ext cx="1901952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JP"/>
              </a:rPr>
              <a:t>知識ベース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818888" y="3127248"/>
            <a:ext cx="310896" cy="256032"/>
          </a:xfrm>
          <a:prstGeom prst="right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9784" y="29260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84648" y="2999232"/>
            <a:ext cx="1901952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JP"/>
              </a:rPr>
              <a:t>合成エンジン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178040" y="3127248"/>
            <a:ext cx="310896" cy="256032"/>
          </a:xfrm>
          <a:prstGeom prst="right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488936" y="29260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43800" y="2999232"/>
            <a:ext cx="1901952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JP"/>
              </a:rPr>
              <a:t>検証部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537192" y="3127248"/>
            <a:ext cx="310896" cy="256032"/>
          </a:xfrm>
          <a:prstGeom prst="right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848088" y="29260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02952" y="2999232"/>
            <a:ext cx="1901952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JP"/>
              </a:rPr>
              <a:t>出力部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3794760"/>
            <a:ext cx="11338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Noto Sans CJK JP"/>
              </a:rPr>
              <a:t>人が見る点は、検証のあとに残す。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" y="4096512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344" y="4169664"/>
            <a:ext cx="1901952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JP"/>
              </a:rPr>
              <a:t>例外シナリオ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2459736" y="4297680"/>
            <a:ext cx="310896" cy="256032"/>
          </a:xfrm>
          <a:prstGeom prst="right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770632" y="4096512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825496" y="4169664"/>
            <a:ext cx="1901952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JP"/>
              </a:rPr>
              <a:t>特殊
インターロック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4818888" y="4297680"/>
            <a:ext cx="310896" cy="256032"/>
          </a:xfrm>
          <a:prstGeom prst="right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129784" y="4096512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84648" y="4169664"/>
            <a:ext cx="1901952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JP"/>
              </a:rPr>
              <a:t>不合格時の方針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074920"/>
            <a:ext cx="113385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F4E79"/>
                </a:solidFill>
                <a:latin typeface="Noto Sans CJK JP"/>
              </a:rPr>
              <a:t>見るところ：6つの箱がそろっているか。人が見る点が消えて『全自動』になっていないか。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6565392"/>
            <a:ext cx="7772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565392"/>
            <a:ext cx="1097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1F4E79"/>
                </a:solidFill>
                <a:latin typeface="Noto Sans CJK JP"/>
              </a:rPr>
              <a:t>図3　処理の流れ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Noto Sans CJK JP"/>
              </a:rPr>
              <a:t>不合格なら合成に戻る。人が確認してから確定する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34440"/>
            <a:ext cx="11338560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2984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  <a:latin typeface="Noto Sans CJK JP"/>
              </a:rPr>
              <a:t>Copilotへの依頼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72768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D2D2D"/>
                </a:solidFill>
                <a:latin typeface="Noto Sans CJK JP"/>
              </a:rPr>
              <a:t>『処理の流れをGraphvizのDOTで書いて。取り込み→SIF候補→合成→検証→出力。不合格なら合成に戻る。人が確認して確定。社外サイトは使わず、この会話で図も出して。』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60320"/>
            <a:ext cx="113385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E75B6"/>
                </a:solidFill>
                <a:latin typeface="Noto Sans CJK JP"/>
              </a:rPr>
              <a:t>Copilotが出した図の例（このマニュアルの安全計装の例）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9260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" y="2999232"/>
            <a:ext cx="1901952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JP"/>
              </a:rPr>
              <a:t>取り込む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459736" y="3127248"/>
            <a:ext cx="310896" cy="256032"/>
          </a:xfrm>
          <a:prstGeom prst="right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70632" y="29260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25496" y="2999232"/>
            <a:ext cx="1901952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JP"/>
              </a:rPr>
              <a:t>SIF候補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818888" y="3127248"/>
            <a:ext cx="310896" cy="256032"/>
          </a:xfrm>
          <a:prstGeom prst="right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9784" y="29260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84648" y="2999232"/>
            <a:ext cx="1901952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JP"/>
              </a:rPr>
              <a:t>合成する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178040" y="3127248"/>
            <a:ext cx="310896" cy="256032"/>
          </a:xfrm>
          <a:prstGeom prst="right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488936" y="29260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43800" y="2999232"/>
            <a:ext cx="1901952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JP"/>
              </a:rPr>
              <a:t>検証する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537192" y="3127248"/>
            <a:ext cx="310896" cy="256032"/>
          </a:xfrm>
          <a:prstGeom prst="right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848088" y="29260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02952" y="2999232"/>
            <a:ext cx="1901952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JP"/>
              </a:rPr>
              <a:t>出力する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3794760"/>
            <a:ext cx="11338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Noto Sans CJK JP"/>
              </a:rPr>
              <a:t>不合格のとき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" y="4096512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344" y="4169664"/>
            <a:ext cx="1901952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JP"/>
              </a:rPr>
              <a:t>検証する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2459736" y="4297680"/>
            <a:ext cx="310896" cy="256032"/>
          </a:xfrm>
          <a:prstGeom prst="right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770632" y="4096512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825496" y="4169664"/>
            <a:ext cx="1901952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JP"/>
              </a:rPr>
              <a:t>合成に戻る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4818888" y="4297680"/>
            <a:ext cx="310896" cy="256032"/>
          </a:xfrm>
          <a:prstGeom prst="right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129784" y="4096512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84648" y="4169664"/>
            <a:ext cx="1901952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JP"/>
              </a:rPr>
              <a:t>人が確認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7178040" y="4297680"/>
            <a:ext cx="310896" cy="256032"/>
          </a:xfrm>
          <a:prstGeom prst="right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488936" y="4096512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43800" y="4169664"/>
            <a:ext cx="1901952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JP"/>
              </a:rPr>
              <a:t>確定する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5074920"/>
            <a:ext cx="113385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F4E79"/>
                </a:solidFill>
                <a:latin typeface="Noto Sans CJK JP"/>
              </a:rPr>
              <a:t>見るところ：検証から合成へ戻る矢印があるか。人が確認する箱が抜けていないか。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565392"/>
            <a:ext cx="7772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6565392"/>
            <a:ext cx="1097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1F4E79"/>
                </a:solidFill>
                <a:latin typeface="Noto Sans CJK JP"/>
              </a:rPr>
              <a:t>図4　トレーサビリティの例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Noto Sans CJK JP"/>
              </a:rPr>
              <a:t>HAZOPの原因 − SIF − 素子、の対応が残ること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34440"/>
            <a:ext cx="11338560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2984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  <a:latin typeface="Noto Sans CJK JP"/>
              </a:rPr>
              <a:t>Copilotへの依頼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72768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D2D2D"/>
                </a:solidFill>
                <a:latin typeface="Noto Sans CJK JP"/>
              </a:rPr>
              <a:t>『追跡の例をGraphvizのDOTで書いて。HAZOP原因→SIF→ロジック素子。変更が入ったら影響範囲が見えるように。社外サイトは使わず、この会話で図も出して。』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60320"/>
            <a:ext cx="113385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E75B6"/>
                </a:solidFill>
                <a:latin typeface="Noto Sans CJK JP"/>
              </a:rPr>
              <a:t>Copilotが出した図の例（このマニュアルの安全計装の例）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9260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" y="2999232"/>
            <a:ext cx="1901952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JP"/>
              </a:rPr>
              <a:t>HAZOP原因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459736" y="3127248"/>
            <a:ext cx="310896" cy="256032"/>
          </a:xfrm>
          <a:prstGeom prst="right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70632" y="29260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25496" y="2999232"/>
            <a:ext cx="1901952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JP"/>
              </a:rPr>
              <a:t>SIF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818888" y="3127248"/>
            <a:ext cx="310896" cy="256032"/>
          </a:xfrm>
          <a:prstGeom prst="right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9784" y="29260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84648" y="2999232"/>
            <a:ext cx="1901952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JP"/>
              </a:rPr>
              <a:t>ロジック素子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178040" y="3127248"/>
            <a:ext cx="310896" cy="256032"/>
          </a:xfrm>
          <a:prstGeom prst="right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488936" y="29260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43800" y="2999232"/>
            <a:ext cx="1901952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JP"/>
              </a:rPr>
              <a:t>影響範囲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3840480"/>
            <a:ext cx="113385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F4E79"/>
                </a:solidFill>
                <a:latin typeface="Noto Sans CJK JP"/>
              </a:rPr>
              <a:t>見るところ：3つが一本の線でつながっているか。変更から影響範囲へ矢印があるか。図が開示書3.3の文章と同じか。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565392"/>
            <a:ext cx="7772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565392"/>
            <a:ext cx="1097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