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09728" cy="6858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1F4E79"/>
                </a:solidFill>
                <a:latin typeface="Noto Sans CJK JP"/>
              </a:rPr>
              <a:t>Copilotで作る
発明開示書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666666"/>
                </a:solidFill>
                <a:latin typeface="Noto Sans CJK JP"/>
              </a:rPr>
              <a:t>ゼロから素案まで　─　先行調査を先に、クレームは後で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1264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Noto Sans CJK JP"/>
              </a:rPr>
              <a:t>王 者興  |  MKDS BDD Gr1.  |  2026/06/12（訂正反映）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1F4E79"/>
                </a:solidFill>
                <a:latin typeface="Noto Sans CJK JP"/>
              </a:rPr>
              <a:t>この資料で伝えたいこと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Noto Sans CJK JP"/>
              </a:rPr>
              <a:t>発明開示書の素案を、Copilotで速く・抜けなく作る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611880" cy="4206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3611880" cy="6400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3611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JP"/>
              </a:rPr>
              <a:t>誰向け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86000"/>
            <a:ext cx="31546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2D2D2D"/>
                </a:solidFill>
                <a:latin typeface="Noto Sans CJK JP"/>
              </a:rPr>
              <a:t>初めて開示書を書く人
AIで知財業務を進めたい人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371600"/>
            <a:ext cx="3611880" cy="4206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97680" y="1371600"/>
            <a:ext cx="3611880" cy="6400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0" y="1463040"/>
            <a:ext cx="3611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JP"/>
              </a:rPr>
              <a:t>何が変わる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286000"/>
            <a:ext cx="31546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2D2D2D"/>
                </a:solidFill>
                <a:latin typeface="Noto Sans CJK JP"/>
              </a:rPr>
              <a:t>数日〜1週間 → 数時間で素案
中身の責任は発明者自身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371600"/>
            <a:ext cx="3611880" cy="4206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371600"/>
            <a:ext cx="3611880" cy="6400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1463040"/>
            <a:ext cx="3611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JP"/>
              </a:rPr>
              <a:t>今回の直し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286000"/>
            <a:ext cx="31546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2D2D2D"/>
                </a:solidFill>
                <a:latin typeface="Noto Sans CJK JP"/>
              </a:rPr>
              <a:t>調査を先に、クレームは後
各Stepのゴールを「できた状態」で示す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537960"/>
            <a:ext cx="7772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  |  訂正反映版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37960"/>
            <a:ext cx="1097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1F4E79"/>
                </a:solidFill>
                <a:latin typeface="Noto Sans CJK JP"/>
              </a:rPr>
              <a:t>使う前の約束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Noto Sans CJK JP"/>
              </a:rPr>
              <a:t>入力してよい情報と、AIの位置づけ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471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5029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Noto Sans CJK JP"/>
              </a:rPr>
              <a:t>開示書作成中（発明のタネ）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0" y="1417320"/>
            <a:ext cx="2194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C0392B"/>
                </a:solidFill>
                <a:latin typeface="Noto Sans CJK JP"/>
              </a:rPr>
              <a:t>Restricted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417320"/>
            <a:ext cx="3383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Noto Sans CJK JP"/>
              </a:rPr>
              <a:t>Copilotへ入力可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30552"/>
            <a:ext cx="112471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13432"/>
            <a:ext cx="5029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Noto Sans CJK JP"/>
              </a:rPr>
              <a:t>ANAQUA登録後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313432"/>
            <a:ext cx="2194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C0392B"/>
                </a:solidFill>
                <a:latin typeface="Noto Sans CJK JP"/>
              </a:rPr>
              <a:t>Confidential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313432"/>
            <a:ext cx="3383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Noto Sans CJK JP"/>
              </a:rPr>
              <a:t>関係者のみ。Copilotへ入れない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026664"/>
            <a:ext cx="112471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209544"/>
            <a:ext cx="5029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Noto Sans CJK JP"/>
              </a:rPr>
              <a:t>共同研究の情報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3209544"/>
            <a:ext cx="2194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C0392B"/>
                </a:solidFill>
                <a:latin typeface="Noto Sans CJK JP"/>
              </a:rPr>
              <a:t>Confidential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209544"/>
            <a:ext cx="3383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Noto Sans CJK JP"/>
              </a:rPr>
              <a:t>生成AIへ原則禁止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114800"/>
            <a:ext cx="112471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51960"/>
            <a:ext cx="10789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  <a:latin typeface="Noto Sans CJK JP"/>
              </a:rPr>
              <a:t>AIは支援者。開示書の名義はあなたです。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754880"/>
            <a:ext cx="1078992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D2D2D"/>
                </a:solidFill>
                <a:latin typeface="Noto Sans CJK JP"/>
              </a:rPr>
              <a:t>① Copilotで60点の素案  →  ② 人と議論して直す  →  ③ もう一度Copilotで整える
出力をそのまま貼らない。後から自分で説明できることだけ残す。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6537960"/>
            <a:ext cx="7772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  |  訂正反映版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537960"/>
            <a:ext cx="1097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1F4E79"/>
                </a:solidFill>
                <a:latin typeface="Noto Sans CJK JP"/>
              </a:rPr>
              <a:t>使う道具は2つ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Noto Sans CJK JP"/>
              </a:rPr>
              <a:t>文章づくりと、近い特許を探すこと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5532120" cy="4206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5532120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554480"/>
            <a:ext cx="55321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Noto Sans CJK JP"/>
              </a:rPr>
              <a:t>M365 Copilot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60320"/>
            <a:ext cx="48006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2D2D2D"/>
                </a:solidFill>
                <a:latin typeface="Noto Sans CJK JP"/>
              </a:rPr>
              <a:t>文章の下書き・整理・用語そろえ
自然な言葉で依頼する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17320"/>
            <a:ext cx="5532120" cy="4206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1417320"/>
            <a:ext cx="5532120" cy="77724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554480"/>
            <a:ext cx="55321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Noto Sans CJK JP"/>
              </a:rPr>
              <a:t>PatentSQUARE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560320"/>
            <a:ext cx="48006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2D2D2D"/>
                </a:solidFill>
                <a:latin typeface="Noto Sans CJK JP"/>
              </a:rPr>
              <a:t>近い先行特許を探す（社内標準）
クレームを書く前に使う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537960"/>
            <a:ext cx="7772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  |  訂正反映版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537960"/>
            <a:ext cx="1097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1F4E79"/>
                </a:solidFill>
                <a:latin typeface="Noto Sans CJK JP"/>
              </a:rPr>
              <a:t>発明開示書に書くこと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Noto Sans CJK JP"/>
              </a:rPr>
              <a:t>ANAQUAの項目。この順で埋めていく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2103120"/>
            <a:ext cx="1170432" cy="2926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22376" y="2331720"/>
            <a:ext cx="502920" cy="50292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395728"/>
            <a:ext cx="502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" y="3017520"/>
            <a:ext cx="1024128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4E79"/>
                </a:solidFill>
                <a:latin typeface="Noto Sans CJK JP"/>
              </a:rPr>
              <a:t>技術分野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91640" y="2103120"/>
            <a:ext cx="1170432" cy="2926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002536" y="2331720"/>
            <a:ext cx="502920" cy="50292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02536" y="2395728"/>
            <a:ext cx="502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2.1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64792" y="3017520"/>
            <a:ext cx="1024128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4E79"/>
                </a:solidFill>
                <a:latin typeface="Noto Sans CJK JP"/>
              </a:rPr>
              <a:t>従来の図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71800" y="2103120"/>
            <a:ext cx="1170432" cy="2926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282696" y="2331720"/>
            <a:ext cx="502920" cy="50292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82696" y="2395728"/>
            <a:ext cx="502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2.2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44952" y="3017520"/>
            <a:ext cx="1024128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4E79"/>
                </a:solidFill>
                <a:latin typeface="Noto Sans CJK JP"/>
              </a:rPr>
              <a:t>従来の問題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1960" y="2103120"/>
            <a:ext cx="1170432" cy="2926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62856" y="2331720"/>
            <a:ext cx="502920" cy="50292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2856" y="2395728"/>
            <a:ext cx="502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3.1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5112" y="3017520"/>
            <a:ext cx="1024128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4E79"/>
                </a:solidFill>
                <a:latin typeface="Noto Sans CJK JP"/>
              </a:rPr>
              <a:t>目的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32120" y="2103120"/>
            <a:ext cx="1170432" cy="2926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843016" y="2331720"/>
            <a:ext cx="502920" cy="50292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43016" y="2395728"/>
            <a:ext cx="502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3.2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05272" y="3017520"/>
            <a:ext cx="1024128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4E79"/>
                </a:solidFill>
                <a:latin typeface="Noto Sans CJK JP"/>
              </a:rPr>
              <a:t>本発明の図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12280" y="2103120"/>
            <a:ext cx="1170432" cy="2926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123176" y="2331720"/>
            <a:ext cx="502920" cy="50292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23176" y="2395728"/>
            <a:ext cx="502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3.3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85432" y="3017520"/>
            <a:ext cx="1024128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4E79"/>
                </a:solidFill>
                <a:latin typeface="Noto Sans CJK JP"/>
              </a:rPr>
              <a:t>具体的内容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92440" y="2103120"/>
            <a:ext cx="1170432" cy="2926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403336" y="2331720"/>
            <a:ext cx="502920" cy="50292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03336" y="2395728"/>
            <a:ext cx="502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3.4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65592" y="3017520"/>
            <a:ext cx="1024128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4E79"/>
                </a:solidFill>
                <a:latin typeface="Noto Sans CJK JP"/>
              </a:rPr>
              <a:t>効果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372600" y="2103120"/>
            <a:ext cx="1170432" cy="2926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683496" y="2331720"/>
            <a:ext cx="502920" cy="50292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83496" y="2395728"/>
            <a:ext cx="502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45752" y="3017520"/>
            <a:ext cx="1024128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4E79"/>
                </a:solidFill>
                <a:latin typeface="Noto Sans CJK JP"/>
              </a:rPr>
              <a:t>発展例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652760" y="2103120"/>
            <a:ext cx="1170432" cy="2926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963656" y="2331720"/>
            <a:ext cx="502920" cy="50292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63656" y="2395728"/>
            <a:ext cx="502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25912" y="3017520"/>
            <a:ext cx="1024128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4E79"/>
                </a:solidFill>
                <a:latin typeface="Noto Sans CJK JP"/>
              </a:rPr>
              <a:t>クレーム案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52578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Noto Sans CJK JP"/>
              </a:rPr>
              <a:t>テンプレート：知的財産部ホームページ（ANAQUA形式）
クレーム案（5）は、先行調査のあとで書く。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6537960"/>
            <a:ext cx="7772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  |  訂正反映版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07040" y="6537960"/>
            <a:ext cx="1097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1F4E79"/>
                </a:solidFill>
                <a:latin typeface="Noto Sans CJK JP"/>
              </a:rPr>
              <a:t>手順（直し後）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Noto Sans CJK JP"/>
              </a:rPr>
              <a:t>近い特許を先に見てから、守る範囲を決める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417320"/>
            <a:ext cx="1874519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1600200"/>
            <a:ext cx="502920" cy="50292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64208"/>
            <a:ext cx="502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CJK JP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2240280"/>
            <a:ext cx="17373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4E79"/>
                </a:solidFill>
                <a:latin typeface="Noto Sans CJK JP"/>
              </a:rPr>
              <a:t>タネを言語化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00" y="210312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C9A227"/>
                </a:solidFill>
                <a:latin typeface="Noto Sans CJK JP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31720" y="1417320"/>
            <a:ext cx="1874519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971800" y="1600200"/>
            <a:ext cx="502920" cy="502920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71800" y="1664208"/>
            <a:ext cx="502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CJK JP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04872" y="2240280"/>
            <a:ext cx="17373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4E79"/>
                </a:solidFill>
                <a:latin typeface="Noto Sans CJK JP"/>
              </a:rPr>
              <a:t>先行を先に見る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210312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C9A227"/>
                </a:solidFill>
                <a:latin typeface="Noto Sans CJK JP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1417320"/>
            <a:ext cx="1874519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937760" y="1600200"/>
            <a:ext cx="502920" cy="50292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60" y="1664208"/>
            <a:ext cx="502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CJK JP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70832" y="2240280"/>
            <a:ext cx="17373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4E79"/>
                </a:solidFill>
                <a:latin typeface="Noto Sans CJK JP"/>
              </a:rPr>
              <a:t>本発明を具体化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210312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C9A227"/>
                </a:solidFill>
                <a:latin typeface="Noto Sans CJK JP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1417320"/>
            <a:ext cx="1874519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903720" y="1600200"/>
            <a:ext cx="502920" cy="50292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1664208"/>
            <a:ext cx="502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CJK JP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36792" y="2240280"/>
            <a:ext cx="17373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4E79"/>
                </a:solidFill>
                <a:latin typeface="Noto Sans CJK JP"/>
              </a:rPr>
              <a:t>差を表にする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80" y="210312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C9A227"/>
                </a:solidFill>
                <a:latin typeface="Noto Sans CJK JP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1417320"/>
            <a:ext cx="1874519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869680" y="1600200"/>
            <a:ext cx="502920" cy="502920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0" y="1664208"/>
            <a:ext cx="502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CJK JP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02752" y="2240280"/>
            <a:ext cx="17373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4E79"/>
                </a:solidFill>
                <a:latin typeface="Noto Sans CJK JP"/>
              </a:rPr>
              <a:t>クレームと発展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21240" y="210312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C9A227"/>
                </a:solidFill>
                <a:latin typeface="Noto Sans CJK JP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195560" y="1417320"/>
            <a:ext cx="1874519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835640" y="1600200"/>
            <a:ext cx="502920" cy="50292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835640" y="1664208"/>
            <a:ext cx="502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CJK JP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68712" y="2240280"/>
            <a:ext cx="17373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4E79"/>
                </a:solidFill>
                <a:latin typeface="Noto Sans CJK JP"/>
              </a:rPr>
              <a:t>開示書へ落とす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3794760"/>
            <a:ext cx="11430000" cy="228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3794760"/>
            <a:ext cx="146304" cy="2286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3931920"/>
            <a:ext cx="10789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ED7D31"/>
                </a:solidFill>
                <a:latin typeface="Noto Sans CJK JP"/>
              </a:rPr>
              <a:t>以前との違い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4434840"/>
            <a:ext cx="10789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D2D2D"/>
                </a:solidFill>
                <a:latin typeface="Noto Sans CJK JP"/>
              </a:rPr>
              <a:t>以前：具体化の段階で粗いクレーム → そのあとで先行調査
いま　：Step 1で先行を見て被りを把握 → Step 4でクレームを書く
ゴールは字数ではなく、「そのStepで何ができていれば次へ進めるか」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537960"/>
            <a:ext cx="7772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  |  訂正反映版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07040" y="6537960"/>
            <a:ext cx="1097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1F4E79"/>
                </a:solidFill>
                <a:latin typeface="Noto Sans CJK JP"/>
              </a:rPr>
              <a:t>Step 0　発明のタネを言葉にする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Noto Sans CJK JP"/>
              </a:rPr>
              <a:t>字数より、「話せるかどうか」がゴール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562356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C9A227"/>
                </a:solidFill>
                <a:latin typeface="Noto Sans CJK JP"/>
              </a:rPr>
              <a:t>ゴール（できた状態）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21208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Noto Sans CJK JP"/>
              </a:rPr>
              <a:t>課題と解決の骨格を、口頭で30秒話せる。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C9A227"/>
                </a:solidFill>
                <a:latin typeface="Noto Sans CJK JP"/>
              </a:rPr>
              <a:t>やること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521208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D2D2D"/>
                </a:solidFill>
                <a:latin typeface="Noto Sans CJK JP"/>
              </a:rPr>
              <a:t>・タイトルと「何が困るか／何をよくしたいか」を対話する
・メモや会議動画があれば、そのまま入れて整理させる
・正確さより、穴のある文章でよいので出す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188720"/>
            <a:ext cx="553212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109728" cy="5029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261872"/>
            <a:ext cx="5166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4E79"/>
                </a:solidFill>
                <a:latin typeface="Noto Sans CJK JP"/>
              </a:rPr>
              <a:t>あなた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481328"/>
            <a:ext cx="5166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D2D2D"/>
                </a:solidFill>
                <a:latin typeface="Noto Sans CJK JP"/>
              </a:rPr>
              <a:t>『安全計装ロジック自動構築ツール』の課題と概要を、短く整理してください。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3602736"/>
            <a:ext cx="5166360" cy="13716"/>
          </a:xfrm>
          <a:prstGeom prst="rect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648456"/>
            <a:ext cx="5166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E75B6"/>
                </a:solidFill>
                <a:latin typeface="Noto Sans CJK JP"/>
              </a:rPr>
              <a:t>Copilot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895344"/>
            <a:ext cx="5166360" cy="2112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D2D2D"/>
                </a:solidFill>
                <a:latin typeface="Noto Sans CJK JP"/>
              </a:rPr>
              <a:t>従来はHAZOPからC&amp;EやFBDを手作業で作るため、時間がかかり属人化しやすい。本発明は規則と知識ベースからロジックを合成し、検証までつなぐ。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537960"/>
            <a:ext cx="7772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  |  訂正反映版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37960"/>
            <a:ext cx="1097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1F4E79"/>
                </a:solidFill>
                <a:latin typeface="Noto Sans CJK JP"/>
              </a:rPr>
              <a:t>Step 1　先行特許を先に見る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Noto Sans CJK JP"/>
              </a:rPr>
              <a:t>狙いが先願と被りにくくなる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562356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C9A227"/>
                </a:solidFill>
                <a:latin typeface="Noto Sans CJK JP"/>
              </a:rPr>
              <a:t>ゴール（できた状態）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21208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Noto Sans CJK JP"/>
              </a:rPr>
              <a:t>近い公知がリストになり、被りそうな点が見えている。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C9A227"/>
                </a:solidFill>
                <a:latin typeface="Noto Sans CJK JP"/>
              </a:rPr>
              <a:t>やること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521208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D2D2D"/>
                </a:solidFill>
                <a:latin typeface="Noto Sans CJK JP"/>
              </a:rPr>
              <a:t>・PatentSQUAREで類似を探す（社内標準）
・ヒットの要約をCopilotに渡す
・この段階ではクレームを書かない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188720"/>
            <a:ext cx="553212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109728" cy="5029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261872"/>
            <a:ext cx="5166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4E79"/>
                </a:solidFill>
                <a:latin typeface="Noto Sans CJK JP"/>
              </a:rPr>
              <a:t>あなた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481328"/>
            <a:ext cx="5166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D2D2D"/>
                </a:solidFill>
                <a:latin typeface="Noto Sans CJK JP"/>
              </a:rPr>
              <a:t>本発明に近い先行を探すキーワードと、見る観点を出してください。クレームはまだ作らないでください。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3602736"/>
            <a:ext cx="5166360" cy="13716"/>
          </a:xfrm>
          <a:prstGeom prst="rect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648456"/>
            <a:ext cx="5166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E75B6"/>
                </a:solidFill>
                <a:latin typeface="Noto Sans CJK JP"/>
              </a:rPr>
              <a:t>Copilot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895344"/>
            <a:ext cx="5166360" cy="2112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D2D2D"/>
                </a:solidFill>
                <a:latin typeface="Noto Sans CJK JP"/>
              </a:rPr>
              <a:t>キーワード例：安全計装、SIF自動生成、HAZOP、C&amp;E、FBD。見る点：自動合成の範囲、検証とのつなぎ、変更の追跡。ここは調査であり、権利範囲はまだ決めない。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537960"/>
            <a:ext cx="7772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  |  訂正反映版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37960"/>
            <a:ext cx="1097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1F4E79"/>
                </a:solidFill>
                <a:latin typeface="Noto Sans CJK JP"/>
              </a:rPr>
              <a:t>Step 2　本発明を具体化する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Noto Sans CJK JP"/>
              </a:rPr>
              <a:t>クレームは次々回。ここでは中身を固める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562356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C9A227"/>
                </a:solidFill>
                <a:latin typeface="Noto Sans CJK JP"/>
              </a:rPr>
              <a:t>ゴール（できた状態）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21208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Noto Sans CJK JP"/>
              </a:rPr>
              <a:t>構成・処理の流れ・先行との違いが説明できる。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C9A227"/>
                </a:solidFill>
                <a:latin typeface="Noto Sans CJK JP"/>
              </a:rPr>
              <a:t>やること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521208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D2D2D"/>
                </a:solidFill>
                <a:latin typeface="Noto Sans CJK JP"/>
              </a:rPr>
              <a:t>・Step 1で見た先行を踏まえて書く
・入力・処理・出力に分けて具体化する
・「先行にないところ」だけ厚くする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188720"/>
            <a:ext cx="553212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109728" cy="5029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261872"/>
            <a:ext cx="5166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4E79"/>
                </a:solidFill>
                <a:latin typeface="Noto Sans CJK JP"/>
              </a:rPr>
              <a:t>あなた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481328"/>
            <a:ext cx="5166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D2D2D"/>
                </a:solidFill>
                <a:latin typeface="Noto Sans CJK JP"/>
              </a:rPr>
              <a:t>先行にはルールベースの自動生成があります。本発明の違いを、構成と処理の流れで具体化してください。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3602736"/>
            <a:ext cx="5166360" cy="13716"/>
          </a:xfrm>
          <a:prstGeom prst="rect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648456"/>
            <a:ext cx="5166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E75B6"/>
                </a:solidFill>
                <a:latin typeface="Noto Sans CJK JP"/>
              </a:rPr>
              <a:t>Copilot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895344"/>
            <a:ext cx="5166360" cy="2112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D2D2D"/>
                </a:solidFill>
                <a:latin typeface="Noto Sans CJK JP"/>
              </a:rPr>
              <a:t>HAZOP入力→知識ベースで合成→SIL検証→設計成果物へ戻す、まで一気通貫。手作業のC&amp;E/FBDをなくし、変更時の追跡を残す点が差。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537960"/>
            <a:ext cx="7772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  |  訂正反映版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37960"/>
            <a:ext cx="1097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1F4E79"/>
                </a:solidFill>
                <a:latin typeface="Noto Sans CJK JP"/>
              </a:rPr>
              <a:t>Step 3　従来技術との差を表にする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Noto Sans CJK JP"/>
              </a:rPr>
              <a:t>表ができれば、開示書の2.2と3.4に使える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562356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C9A227"/>
                </a:solidFill>
                <a:latin typeface="Noto Sans CJK JP"/>
              </a:rPr>
              <a:t>ゴール（できた状態）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21208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Noto Sans CJK JP"/>
              </a:rPr>
              <a:t>従来／課題／差／優位性が、1枚の表で対比できる。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C9A227"/>
                </a:solidFill>
                <a:latin typeface="Noto Sans CJK JP"/>
              </a:rPr>
              <a:t>やること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521208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D2D2D"/>
                </a:solidFill>
                <a:latin typeface="Noto Sans CJK JP"/>
              </a:rPr>
              <a:t>・先行の要約を入力する
・本発明との差だけ残す
・差がない項目は、狙いをずらす候補にする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188720"/>
            <a:ext cx="553212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109728" cy="5029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261872"/>
            <a:ext cx="5166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4E79"/>
                </a:solidFill>
                <a:latin typeface="Noto Sans CJK JP"/>
              </a:rPr>
              <a:t>あなた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481328"/>
            <a:ext cx="5166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D2D2D"/>
                </a:solidFill>
                <a:latin typeface="Noto Sans CJK JP"/>
              </a:rPr>
              <a:t>次の先行要約を踏まえ、本発明との差を表にしてください。（自動生成はあるが、検証と追跡はない）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3602736"/>
            <a:ext cx="5166360" cy="13716"/>
          </a:xfrm>
          <a:prstGeom prst="rect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648456"/>
            <a:ext cx="5166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E75B6"/>
                </a:solidFill>
                <a:latin typeface="Noto Sans CJK JP"/>
              </a:rPr>
              <a:t>Copilot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895344"/>
            <a:ext cx="5166360" cy="2112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D2D2D"/>
                </a:solidFill>
                <a:latin typeface="Noto Sans CJK JP"/>
              </a:rPr>
              <a:t>先行：ロジック生成まで／課題：検証と変更追跡が手作業。本発明：合成に加え検証結果を成果物へ戻す。優位性は漏れ防止とレビュー負荷の低下。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537960"/>
            <a:ext cx="7772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  |  訂正反映版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37960"/>
            <a:ext cx="1097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1F4E79"/>
                </a:solidFill>
                <a:latin typeface="Noto Sans CJK JP"/>
              </a:rPr>
              <a:t>Step 4　クレーム案と発展例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Noto Sans CJK JP"/>
              </a:rPr>
              <a:t>調査のあとだから、狙う範囲をずらせる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562356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C9A227"/>
                </a:solidFill>
                <a:latin typeface="Noto Sans CJK JP"/>
              </a:rPr>
              <a:t>ゴール（できた状態）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21208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Noto Sans CJK JP"/>
              </a:rPr>
              <a:t>先行と被りにくい保護範囲の案がある。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C9A227"/>
                </a:solidFill>
                <a:latin typeface="Noto Sans CJK JP"/>
              </a:rPr>
              <a:t>やること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521208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D2D2D"/>
                </a:solidFill>
                <a:latin typeface="Noto Sans CJK JP"/>
              </a:rPr>
              <a:t>・独立項は「差の核」だけにする
・従属項で変形・適用を広げる
・将来の派生テーマも一行で残す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188720"/>
            <a:ext cx="553212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109728" cy="5029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261872"/>
            <a:ext cx="5166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4E79"/>
                </a:solidFill>
                <a:latin typeface="Noto Sans CJK JP"/>
              </a:rPr>
              <a:t>あなた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481328"/>
            <a:ext cx="5166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D2D2D"/>
                </a:solidFill>
                <a:latin typeface="Noto Sans CJK JP"/>
              </a:rPr>
              <a:t>上の差を踏まえ、先行と被りにくい独立クレームの骨格を作ってください。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3602736"/>
            <a:ext cx="5166360" cy="13716"/>
          </a:xfrm>
          <a:prstGeom prst="rect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648456"/>
            <a:ext cx="5166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E75B6"/>
                </a:solidFill>
                <a:latin typeface="Noto Sans CJK JP"/>
              </a:rPr>
              <a:t>Copilot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895344"/>
            <a:ext cx="5166360" cy="2112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D2D2D"/>
                </a:solidFill>
                <a:latin typeface="Noto Sans CJK JP"/>
              </a:rPr>
              <a:t>核は「HAZOP原因からSIFロジックを合成し、検証結果を設計成果物へ反映する手段」。自動生成だけだと被りやすいので、検証と追跡を独立項に残す。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537960"/>
            <a:ext cx="7772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  |  訂正反映版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37960"/>
            <a:ext cx="1097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1F4E79"/>
                </a:solidFill>
                <a:latin typeface="Noto Sans CJK JP"/>
              </a:rPr>
              <a:t>Step 5　ANAQUAの項目へ落とす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Noto Sans CJK JP"/>
              </a:rPr>
              <a:t>ここが提出用の仕上げ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562356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C9A227"/>
                </a:solidFill>
                <a:latin typeface="Noto Sans CJK JP"/>
              </a:rPr>
              <a:t>ゴール（できた状態）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21208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Noto Sans CJK JP"/>
              </a:rPr>
              <a:t>各項目が埋まり、課題・手段・効果・クレームが矛盾していない。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C9A227"/>
                </a:solidFill>
                <a:latin typeface="Noto Sans CJK JP"/>
              </a:rPr>
              <a:t>やること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521208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D2D2D"/>
                </a:solidFill>
                <a:latin typeface="Noto Sans CJK JP"/>
              </a:rPr>
              <a:t>・公式フォーマットに写す
・用語をそろえる（SIF、インターロックなど）
・Copilotに矛盾チェックだけ頼む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188720"/>
            <a:ext cx="553212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109728" cy="5029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261872"/>
            <a:ext cx="5166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4E79"/>
                </a:solidFill>
                <a:latin typeface="Noto Sans CJK JP"/>
              </a:rPr>
              <a:t>あなた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481328"/>
            <a:ext cx="5166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D2D2D"/>
                </a:solidFill>
                <a:latin typeface="Noto Sans CJK JP"/>
              </a:rPr>
              <a:t>課題・手段・効果・クレームに矛盾がないか見てください。用語もそろえてください。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3602736"/>
            <a:ext cx="5166360" cy="13716"/>
          </a:xfrm>
          <a:prstGeom prst="rect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648456"/>
            <a:ext cx="5166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E75B6"/>
                </a:solidFill>
                <a:latin typeface="Noto Sans CJK JP"/>
              </a:rPr>
              <a:t>Copilot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895344"/>
            <a:ext cx="5166360" cy="2112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D2D2D"/>
                </a:solidFill>
                <a:latin typeface="Noto Sans CJK JP"/>
              </a:rPr>
              <a:t>課題の「属人化・漏れ」に対し、クレームが「自動生成」だけだと効果の「漏れ防止」が弱い。検証部を独立項に残し、「安全計装ロジック」「SIF」に用語を統一。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537960"/>
            <a:ext cx="7772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  |  訂正反映版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37960"/>
            <a:ext cx="1097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1F4E79"/>
                </a:solidFill>
                <a:latin typeface="Noto Sans CJK JP"/>
              </a:rPr>
              <a:t>図はGraphvizで作る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Noto Sans CJK JP"/>
              </a:rPr>
              <a:t>コードはCopilotに書かせ、自分で図の正しさを見る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1124712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08760"/>
            <a:ext cx="108813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Noto Sans CJK JP"/>
              </a:rPr>
              <a:t>https://dreampuf.github.io/GraphvizOnline/   →  PNG / SVG で保存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06040"/>
            <a:ext cx="2743200" cy="3017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63040" y="2880360"/>
            <a:ext cx="640080" cy="64008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999232"/>
            <a:ext cx="640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JP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703320"/>
            <a:ext cx="24688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2D2D2D"/>
                </a:solidFill>
                <a:latin typeface="Noto Sans CJK JP"/>
              </a:rPr>
              <a:t>図1 従来フロー（手作業のC&amp;E / FBD）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2606040"/>
            <a:ext cx="2743200" cy="3017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43400" y="2880360"/>
            <a:ext cx="640080" cy="64008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400" y="2999232"/>
            <a:ext cx="640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JP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3703320"/>
            <a:ext cx="24688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2D2D2D"/>
                </a:solidFill>
                <a:latin typeface="Noto Sans CJK JP"/>
              </a:rPr>
              <a:t>図2 本発明の構成（入力・知識・合成・検証・出力）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606040"/>
            <a:ext cx="2743200" cy="3017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223760" y="2880360"/>
            <a:ext cx="640080" cy="64008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0" y="2999232"/>
            <a:ext cx="640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JP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703320"/>
            <a:ext cx="24688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2D2D2D"/>
                </a:solidFill>
                <a:latin typeface="Noto Sans CJK JP"/>
              </a:rPr>
              <a:t>図3 処理の流れ（取り込み〜出力）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98280" y="2606040"/>
            <a:ext cx="2743200" cy="3017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104120" y="2880360"/>
            <a:ext cx="640080" cy="64008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04120" y="2999232"/>
            <a:ext cx="640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JP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3703320"/>
            <a:ext cx="24688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2D2D2D"/>
                </a:solidFill>
                <a:latin typeface="Noto Sans CJK JP"/>
              </a:rPr>
              <a:t>図4 トレーサビリティの例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6537960"/>
            <a:ext cx="7772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  |  訂正反映版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537960"/>
            <a:ext cx="1097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