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Noto Sans CJK JP"/>
              </a:rPr>
              <a:t>Copilotで作る
発明開示書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Noto Sans CJK JP"/>
              </a:rPr>
              <a:t>ゼロから素案まで　─　先行調査を先に、クレームは後で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王 者興  |  MKDS BDD Gr1.  |  2026/06/12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この資料で伝えたいこと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発明開示書の素案を、Copilotで速く・抜けなく作る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118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誰向け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154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Noto Sans CJK JP"/>
              </a:rPr>
              <a:t>初めて開示書を書く人
AIで知財業務を進めたい人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118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何が変わる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154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Noto Sans CJK JP"/>
              </a:rPr>
              <a:t>数日〜1週間 → 数時間で素案
中身の責任は発明者自身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6118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630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進め方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3154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Noto Sans CJK JP"/>
              </a:rPr>
              <a:t>近い特許を先に見る
クレームはそのあとで書く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使う前の約束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入力してよい情報と、AIの位置づけ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開示書作成中（発明のタネ）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417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Noto Sans CJK JP"/>
              </a:rPr>
              <a:t>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1732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Copilotへ入力可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30552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ANAQUA登録後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31343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Noto Sans CJK JP"/>
              </a:rP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13432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関係者のみ。Copilotへ入れない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26664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9544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共同研究の情報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0954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Noto Sans CJK JP"/>
              </a:rPr>
              <a:t>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9544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生成AIへ原則禁止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12471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Noto Sans CJK JP"/>
              </a:rPr>
              <a:t>AIは支援者。開示書の名義はあなたです。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10789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Noto Sans CJK JP"/>
              </a:rPr>
              <a:t>① Copilotで60点の素案  →  ② 人と議論して直す  →  ③ もう一度Copilotで整える
出力をそのまま貼らない。後から自分で説明できることだけ残す。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使う道具は2つ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文章づくりと、近い特許を探すこと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53212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32120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532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</a:rPr>
              <a:t>M365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800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Noto Sans CJK JP"/>
              </a:rPr>
              <a:t>文章の下書き・整理・用語そろえ
自然な言葉で依頼する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53212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3212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532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</a:rPr>
              <a:t>PatentSQUARE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4800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Noto Sans CJK JP"/>
              </a:rPr>
              <a:t>近い先行特許を探す（社内標準）
クレームを書く前に使う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発明開示書に書くこと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ANAQUAの項目。この順で埋めていく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237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技術分野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0253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253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従来の図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8269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従来の問題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6285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目的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4301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301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本発明の図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2317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317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具体的内容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0333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効果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8349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8349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発展例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52760" y="2103120"/>
            <a:ext cx="117043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63656" y="23317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63656" y="23957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5912" y="3017520"/>
            <a:ext cx="1024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Noto Sans CJK JP"/>
              </a:rPr>
              <a:t>クレーム案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CJK JP"/>
              </a:rPr>
              <a:t>テンプレート：知的財産部ホームページ（ANAQUA形式）
クレーム案（5）は、先行調査のあとで書く。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全体の手順と、各Stepのゴール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上段がやること。下段の一文ができたら、次のStepへ進んでよい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298448"/>
            <a:ext cx="188366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4475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9961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2029968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CJK JP"/>
              </a:rPr>
              <a:t>タネを言語化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1664208" cy="45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3090672"/>
            <a:ext cx="1700784" cy="288036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82112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Noto Sans CJK JP"/>
              </a:rPr>
              <a:t>終わったら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566160"/>
            <a:ext cx="16276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課題と解決を
30秒で話せる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153619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Noto Sans CJK JP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2576" y="1298448"/>
            <a:ext cx="188366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0944" y="1444752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149961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029968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CJK JP"/>
              </a:rPr>
              <a:t>先行を先に見る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2304" y="2880360"/>
            <a:ext cx="1664208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14016" y="3090672"/>
            <a:ext cx="1700784" cy="288036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2304" y="3182112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Noto Sans CJK JP"/>
              </a:rPr>
              <a:t>終わったら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3566160"/>
            <a:ext cx="16276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近い特許と
被りそうな点が見える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153619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Noto Sans CJK JP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298448"/>
            <a:ext cx="188366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56048" y="144475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149961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2029968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CJK JP"/>
              </a:rPr>
              <a:t>本発明を具体化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2880360"/>
            <a:ext cx="1664208" cy="45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3090672"/>
            <a:ext cx="1700784" cy="288036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3182112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Noto Sans CJK JP"/>
              </a:rPr>
              <a:t>終わったら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566160"/>
            <a:ext cx="16276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構成と流れと
先行にない点が言える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153619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Noto Sans CJK JP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4" y="1298448"/>
            <a:ext cx="188366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31152" y="144475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149961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029968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CJK JP"/>
              </a:rPr>
              <a:t>差を表にする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2880360"/>
            <a:ext cx="1664208" cy="45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64224" y="3090672"/>
            <a:ext cx="1700784" cy="288036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3182112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Noto Sans CJK JP"/>
              </a:rPr>
              <a:t>終わったら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60"/>
            <a:ext cx="16276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従来との差が
1枚の表になる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91856" y="153619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Noto Sans CJK JP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47888" y="1298448"/>
            <a:ext cx="188366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06256" y="1444752"/>
            <a:ext cx="475488" cy="47548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06256" y="149961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029968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CJK JP"/>
              </a:rPr>
              <a:t>クレームと発展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7616" y="2880360"/>
            <a:ext cx="1664208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39328" y="3090672"/>
            <a:ext cx="1700784" cy="288036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6" y="3182112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Noto Sans CJK JP"/>
              </a:rPr>
              <a:t>終わったら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3566160"/>
            <a:ext cx="16276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被りにくい
守り方が書ける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153619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Noto Sans CJK JP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22992" y="1298448"/>
            <a:ext cx="188366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881360" y="144475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81360" y="149961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96144" y="2029968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Noto Sans CJK JP"/>
              </a:rPr>
              <a:t>開示書へ落とす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20" y="2880360"/>
            <a:ext cx="1664208" cy="45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314432" y="3090672"/>
            <a:ext cx="1700784" cy="288036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32720" y="3182112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Noto Sans CJK JP"/>
              </a:rPr>
              <a:t>終わったら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51008" y="3566160"/>
            <a:ext cx="162763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Noto Sans CJK JP"/>
              </a:rPr>
              <a:t>項目が埋まり
矛盾がない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Noto Sans CJK JP"/>
              </a:rPr>
              <a:t>Step 0　発明のタネを言葉にする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29260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いまここ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9260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0</a:t>
            </a:r>
          </a:p>
        </p:txBody>
      </p:sp>
      <p:sp>
        <p:nvSpPr>
          <p:cNvPr id="7" name="Oval 6"/>
          <p:cNvSpPr/>
          <p:nvPr/>
        </p:nvSpPr>
        <p:spPr>
          <a:xfrm>
            <a:off x="8933688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500616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067544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4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0634472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804672"/>
            <a:ext cx="11448288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8412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Noto Sans CJK JP"/>
              </a:rPr>
              <a:t>このStepのゴール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78992"/>
            <a:ext cx="110825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JP"/>
              </a:rPr>
              <a:t>課題と解決の骨格を、口頭で30秒話せる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755648"/>
            <a:ext cx="11448288" cy="384048"/>
          </a:xfrm>
          <a:prstGeom prst="roundRect">
            <a:avLst>
              <a:gd name="adj" fmla="val 10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92224"/>
            <a:ext cx="11173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次へ進む前の確認　□ 背景・困っていること・何をしたいか、を自分の言葉で言える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1　タイトルと「何が困るか」を聞く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2　メモや会議動画があれば入れる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3　穴のある文章でよいので出す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743200"/>
            <a:ext cx="11448288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09728" cy="3703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16352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あなた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17520"/>
            <a:ext cx="110825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Noto Sans CJK JP"/>
              </a:rPr>
              <a:t>『安全計装ロジック自動構築ツール』という発明アイデアがあります。プラント安全計装設計における課題と、本発明の概要を整理してください。権利範囲（クレーム）はまだ作らないでください。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21024"/>
            <a:ext cx="11082528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75888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Noto Sans CJK JP"/>
              </a:rPr>
              <a:t>回答例（Grok）　※Copilotでも同じ聞き方でよい。出力はそのまま貼らず、自分で直す。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913632"/>
            <a:ext cx="1103680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了解です。いまは開示書の「背景・課題・本発明・効果」の骨格だけ作ります。数字や工数は仮なので、自部署の実績に置き換えてください。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背景　安全計装（SIS）の設計では、HAZOPで危険シナリオを出し、原因と結果の表（C&amp;E）とファンクションブロック図（FBD）を人手で作り、別ツールでSIL検証することが多いです。入力はHAZOP表・P&amp;ID・機器リスト、出力はSIFのロジックと検証記録です。担当者がツールをまたいで転記し、作図していま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課題　①転記と作図に時間がかかる　②担当者でロジックの切り方・命名がぶれる　③HAZOP項目の漏れや、設計変更が検証に届かない　④「なぜこの素子が入ったか」が成果物に残らない。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本発明　HAZOPなどの入力から、知識ベースと規則でSIFロジックを自動合成し、SIL検証までつなぎ、C&amp;E／FBDと追跡表として出すツールです。人が見る点（例外、特殊インターロック）は残します。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効果　工数削減、属人化の低減、漏れ低減、変更時の影響範囲の可視化（トレーサビリティ）。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この骨格で30秒話せるようになったら、次は近い先行特許を探します。『自動生成』という言葉だけで権利の話に入らないでください。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Noto Sans CJK JP"/>
              </a:rPr>
              <a:t>Step 1　先行特許を先に見る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29260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いまここ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0</a:t>
            </a:r>
          </a:p>
        </p:txBody>
      </p:sp>
      <p:sp>
        <p:nvSpPr>
          <p:cNvPr id="7" name="Oval 6"/>
          <p:cNvSpPr/>
          <p:nvPr/>
        </p:nvSpPr>
        <p:spPr>
          <a:xfrm>
            <a:off x="8933688" y="29260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500616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067544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4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0634472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804672"/>
            <a:ext cx="11448288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8412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Noto Sans CJK JP"/>
              </a:rPr>
              <a:t>このStepのゴール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78992"/>
            <a:ext cx="110825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JP"/>
              </a:rPr>
              <a:t>近い特許がリストになり、被りそうな点が見えている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755648"/>
            <a:ext cx="11448288" cy="384048"/>
          </a:xfrm>
          <a:prstGeom prst="roundRect">
            <a:avLst>
              <a:gd name="adj" fmla="val 10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92224"/>
            <a:ext cx="11173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次へ進む前の確認　□ 類似文献が数件あり、「似ている点／違う点」を一言で言える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1　PatentSQUAREで類似を探す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2　ヒットの要約をAIに渡す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3　この段階ではクレームを書かない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743200"/>
            <a:ext cx="11448288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09728" cy="3703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16352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あなた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17520"/>
            <a:ext cx="110825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Noto Sans CJK JP"/>
              </a:rPr>
              <a:t>本発明に近い先行特許を探すキーワードと、調査で見る観点を出してください。権利範囲（クレーム）はまだ作らないでください。ヒットした『自動生成』だけで本発明と同じと思わないようにして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21024"/>
            <a:ext cx="11082528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75888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Noto Sans CJK JP"/>
              </a:rPr>
              <a:t>回答例（Grok）　※Copilotでも同じ聞き方でよい。出力はそのまま貼らず、自分で直す。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913632"/>
            <a:ext cx="1103680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了解です。クレームは書きません。先に『何が近いか』を見るための検索語と、読むときの観点だけ出します。PatentSQUARE（社内標準）で試し、ヒットの要約をまた貼ってください。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検索の核　安全計装、SIS、SIF、HAZOP、C&amp;E、cause and effect、FBD、インターロック、トリップロジック、ロジック自動生成、SIL検証、トレーサビリティ。英語も併用：safety instrumented system, automatic generation, cause and effect matrix。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組み合わせ例　「HAZOP 自動 AND SIF」「cause and effect 自動生成 安全計装」「SIL verification 自動 ロジック」。広すぎたら『検証』『追跡』『HAZOP』を必須語にして絞る。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読む観点（ここが本命）　①ロジックをどこまで自動で作るか（ルールだけか、知識ベースか）　②SIL検証とつながるか　③HAZOP項目と成果物の対応が残るか　④人がどこを確認するか　⑤対象がSISか、DCSの一般ロジックか。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注意　『自動生成』は先行にもよく出ます。生成までで止まっているか、検証結果を設計へ戻しているか、追跡表があるか、を先に見てください。似ている点／違う点が一言で言えたら、Step 2へ進みます。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Noto Sans CJK JP"/>
              </a:rPr>
              <a:t>Step 2　本発明を具体化する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29260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いまここ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0</a:t>
            </a:r>
          </a:p>
        </p:txBody>
      </p:sp>
      <p:sp>
        <p:nvSpPr>
          <p:cNvPr id="7" name="Oval 6"/>
          <p:cNvSpPr/>
          <p:nvPr/>
        </p:nvSpPr>
        <p:spPr>
          <a:xfrm>
            <a:off x="8933688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500616" y="29260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067544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4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0634472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804672"/>
            <a:ext cx="11448288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8412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Noto Sans CJK JP"/>
              </a:rPr>
              <a:t>このStepのゴール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78992"/>
            <a:ext cx="110825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JP"/>
              </a:rPr>
              <a:t>構成・処理の流れ・先行にない点が説明できる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755648"/>
            <a:ext cx="11448288" cy="384048"/>
          </a:xfrm>
          <a:prstGeom prst="roundRect">
            <a:avLst>
              <a:gd name="adj" fmla="val 10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92224"/>
            <a:ext cx="11173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次へ進む前の確認　□ 入力→処理→出力と、「先行にないところ」を指差せる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1　Step 1で見た先行を踏まえる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2　入力・処理・出力に分けて書く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3　先行にないところだけ厚くする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743200"/>
            <a:ext cx="11448288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09728" cy="3703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16352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あなた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17520"/>
            <a:ext cx="110825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Noto Sans CJK JP"/>
              </a:rPr>
              <a:t>先行にはルールベースのロジック自動生成があります。本発明の違いを、システム構成と処理の流れで具体化してください。人が確認する点も残してください。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21024"/>
            <a:ext cx="11082528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75888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Noto Sans CJK JP"/>
              </a:rPr>
              <a:t>回答例（Grok）　※Copilotでも同じ聞き方でよい。出力はそのまま貼らず、自分で直す。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913632"/>
            <a:ext cx="1103680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先行の『ルールでロジックを自動生成する』は残しつつ、本発明が厚いところ（検証と追跡）を構成と流れで書きます。ここが後の差の表とクレームの材料になります。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構成　①入力部：HAZOP表、機器リスト、必要ならP&amp;IDのタグ　②知識ベース：SIFパターン、禁止組み合わせ、命名規則　③合成エンジン：シナリオからC&amp;E／FBDを生成　④検証部：SIL計算、入力とロジックの整合チェック　⑤出力部：設計書、追跡表　⑥人が見る点：例外シナリオ、特殊インターロック、不合格時の方針。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流れ　取り込む → シナリオをSIF候補にする → 知識ベースを参照してロジックを合成する → 検証する → 成果物と追跡表を出す。不合格なら合成に戻る。人が確認してから確定する。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先行との差（厚く書くところ）　先行は生成までが多い。本発明は検証結果を設計成果物へ戻し、HAZOPの原因−SIF−素子の対応を残す。自動生成そのものは差になりにくいので、ここを具体例つきで書いてください。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次は、この差を1枚の表にします。差が弱い欄は、あとでクレームの核にしない候補です。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Noto Sans CJK JP"/>
              </a:rPr>
              <a:t>Step 3　従来技術との差を表にする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29260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いまここ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0</a:t>
            </a:r>
          </a:p>
        </p:txBody>
      </p:sp>
      <p:sp>
        <p:nvSpPr>
          <p:cNvPr id="7" name="Oval 6"/>
          <p:cNvSpPr/>
          <p:nvPr/>
        </p:nvSpPr>
        <p:spPr>
          <a:xfrm>
            <a:off x="8933688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500616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067544" y="29260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4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0634472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804672"/>
            <a:ext cx="11448288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8412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Noto Sans CJK JP"/>
              </a:rPr>
              <a:t>このStepのゴール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78992"/>
            <a:ext cx="110825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JP"/>
              </a:rPr>
              <a:t>従来／課題／差／優位性が、1枚の表で対比できる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755648"/>
            <a:ext cx="11448288" cy="384048"/>
          </a:xfrm>
          <a:prstGeom prst="roundRect">
            <a:avLst>
              <a:gd name="adj" fmla="val 10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92224"/>
            <a:ext cx="11173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次へ進む前の確認　□ 表の「差」の行を、人が見ても同じ理解になる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1　先行の要約を入力する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2　本発明との差だけ残す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3　差がない項目は狙いをずらす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743200"/>
            <a:ext cx="11448288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09728" cy="3703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16352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あなた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17520"/>
            <a:ext cx="110825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Noto Sans CJK JP"/>
              </a:rPr>
              <a:t>先行は「ルールでロジックを自動生成するが、SIL検証と変更追跡はない」とします。本発明との差を、従来／課題／差／優位性の表にしてください。差が弱い欄も指摘してください。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21024"/>
            <a:ext cx="11082528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75888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Noto Sans CJK JP"/>
              </a:rPr>
              <a:t>回答例（Grok）　※Copilotでも同じ聞き方でよい。出力はそのまま貼らず、自分で直す。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913632"/>
            <a:ext cx="1103680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仮定どおり『生成はあるが、検証と追跡はない』として対比します。表は開示書の2.2（従来の問題）と3.4（効果）にそのまま使えます。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従来　HAZOP後にC&amp;E／FBDを手作業。一部ツールはルールでロジックだけ自動生成する。検証と設計変更の反映は別作業のまま。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従来の課題　転記ミスと属人化が残る。生成結果の根拠が残らない。変更が入ると、どのHAZOP項目とどの素子を直すかが追えない。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差　本発明は合成に加え、検証部を持ち、検証結果を成果物へ戻す。HAZOP原因−SIF−素子の追跡表を出す。不合格時は合成に戻る。人が例外を確認する点を残す。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優位性　漏れに気づきやすい。レビューが追跡表でできる。変更時に影響範囲が見える。担当者による切り方のぶれを知識ベースで抑えやすい。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差が弱い欄　『自動生成すること自体』『ルールベースであること』は先行と重なりやすい。クレームの核にしない。核は『検証結果の設計への反映』と『入力項目と素子の対応の記録』に置く。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Noto Sans CJK JP"/>
              </a:rPr>
              <a:t>Step 4　クレーム案と発展例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29260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いまここ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0</a:t>
            </a:r>
          </a:p>
        </p:txBody>
      </p:sp>
      <p:sp>
        <p:nvSpPr>
          <p:cNvPr id="7" name="Oval 6"/>
          <p:cNvSpPr/>
          <p:nvPr/>
        </p:nvSpPr>
        <p:spPr>
          <a:xfrm>
            <a:off x="8933688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500616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067544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4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0634472" y="29260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804672"/>
            <a:ext cx="11448288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8412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Noto Sans CJK JP"/>
              </a:rPr>
              <a:t>このStepのゴール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78992"/>
            <a:ext cx="110825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JP"/>
              </a:rPr>
              <a:t>先行と被りにくい保護範囲の案がある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755648"/>
            <a:ext cx="11448288" cy="384048"/>
          </a:xfrm>
          <a:prstGeom prst="roundRect">
            <a:avLst>
              <a:gd name="adj" fmla="val 10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92224"/>
            <a:ext cx="11173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次へ進む前の確認　□ 独立項が「差の核」だけになっており、自動生成だけでは終わっていない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1　独立項は差の核だけにする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2　従属項で変形・適用を広げる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3　将来の派生テーマも一行で残す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743200"/>
            <a:ext cx="11448288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09728" cy="3703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16352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あなた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17520"/>
            <a:ext cx="110825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Noto Sans CJK JP"/>
              </a:rPr>
              <a:t>上の差を踏まえ、先行と被りにくい独立クレームの骨格と、従属クレーム・発展例の案を作ってください。独立項が『自動生成』だけで終わらないようにしてください。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21024"/>
            <a:ext cx="11082528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75888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Noto Sans CJK JP"/>
              </a:rPr>
              <a:t>回答例（Grok）　※Copilotでも同じ聞き方でよい。出力はそのまま貼らず、自分で直す。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913632"/>
            <a:ext cx="1103680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独立項は差の核だけにします。『ロジックを自動生成する手段』だけで始めると、Step 1で見た先行に被りやすいです。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独立項の核　HAZOP等の入力を取り込む手段と、SIFロジックを合成する手段と、合成結果を検証する手段と、検証結果を設計成果物へ反映する手段と、入力項目とロジック素子の対応を記録する手段、を備える。ポイントは『検証して戻す』と『対応を記録する』が落ちないこと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従属の例　知識ベースを更新する、不合格時に再合成する、追跡表を出力する、人が例外を確認してから確定する、複数プラントへ展開する、P&amp;IDタグと対応づける。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発展例　運転中のインターロック見直し、異常検知ロジックへの展開、規則の学習による知識ベース更新。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派生テーマ（一行で残す）　検証結果の説明文生成、HAZOP支援ツールとの接続、変更差分だけの再検証。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これは骨格です。最終の文言は知財部と発明者で直してください。自動生成だけに見えたら、独立項を差の核に戻す。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Noto Sans CJK JP"/>
              </a:rPr>
              <a:t>Step 5　ANAQUAの項目へ落とす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29260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いまここ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0</a:t>
            </a:r>
          </a:p>
        </p:txBody>
      </p:sp>
      <p:sp>
        <p:nvSpPr>
          <p:cNvPr id="7" name="Oval 6"/>
          <p:cNvSpPr/>
          <p:nvPr/>
        </p:nvSpPr>
        <p:spPr>
          <a:xfrm>
            <a:off x="8933688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500616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067544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4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0634472" y="292608"/>
            <a:ext cx="347472" cy="347472"/>
          </a:xfrm>
          <a:prstGeom prst="ellipse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Noto Sans CJK JP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0" y="29260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310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804672"/>
            <a:ext cx="11448288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8412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Noto Sans CJK JP"/>
              </a:rPr>
              <a:t>このStepのゴール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78992"/>
            <a:ext cx="110825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JP"/>
              </a:rPr>
              <a:t>各項目が埋まり、課題・手段・効果・クレームが矛盾していない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755648"/>
            <a:ext cx="11448288" cy="384048"/>
          </a:xfrm>
          <a:prstGeom prst="roundRect">
            <a:avLst>
              <a:gd name="adj" fmla="val 10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92224"/>
            <a:ext cx="11173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JP"/>
              </a:rPr>
              <a:t>次へ進む前の確認　□ 課題で書いた困りごとが、手段・効果・クレームのどこかに対応している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1　公式フォーマットに写す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2　用語をSIFなどにそろえる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212848"/>
            <a:ext cx="3730752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249424"/>
            <a:ext cx="35478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Noto Sans CJK JP"/>
              </a:rPr>
              <a:t>やること 3　矛盾チェックだけAIに頼む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743200"/>
            <a:ext cx="11448288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09728" cy="3703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16352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Noto Sans CJK JP"/>
              </a:rPr>
              <a:t>あなた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17520"/>
            <a:ext cx="110825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Noto Sans CJK JP"/>
              </a:rPr>
              <a:t>課題・手段・効果・クレームに矛盾がないか見てください。「安全計装ロジック」「SIF」「インターロック」の用語もそろえてください。抜けている対応があれば指摘してください。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21024"/>
            <a:ext cx="11082528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75888"/>
            <a:ext cx="110825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Noto Sans CJK JP"/>
              </a:rPr>
              <a:t>回答例（Grok）　※Copilotでも同じ聞き方でよい。出力はそのまま貼らず、自分で直す。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913632"/>
            <a:ext cx="1103680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並べて見ます。よくあるずれは『課題は漏れと属人化なのに、クレームが自動生成だけ』です。効果の『漏れ防止』が権利の核に残っていない、という状態です。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対応の確認　2.2の課題（転記・属人化・漏れ・変更が届かない）→ 3.3の構成（合成＋検証＋追跡）→ 3.4の効果（工数・漏れ・影響範囲）→ 5の独立項（検証して戻す、対応を記録する）。どれかが『自動生成』だけに戻っていたら、差の核が落ちています。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用語　本文とクレームで『安全計装ロジック』と『SIF』を混在させない。初出で『SIF（安全計装機能）』と定義し、以降はSIFにそろえる。インターロックはSIFを実現するロジックの呼び方として書き、SIFと別物のように並列しない。C&amp;E／FBDも初出で正式名を書く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D2D2D"/>
                </a:solidFill>
                <a:latin typeface="Noto Sans CJK JP"/>
              </a:rPr>
              <a:t>■ 仕上げ　公式フォーマットへ写したあと、課題の困りごとが手段・効果・クレームのどこかに矢印でつながるかだけ見る。つながらない行は削るか、構成側を厚くする。出力をそのまま登録しないでください。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図はGraphvizで作る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コードはCopilotに書かせ、自分で図の正しさを見る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https://dreampuf.github.io/GraphvizOnline/   →  PNG / SVG で保存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06040"/>
            <a:ext cx="274320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2880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9992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  <a:latin typeface="Noto Sans CJK JP"/>
              </a:rPr>
              <a:t>図1 従来フロー（手作業のC&amp;E / FBD）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606040"/>
            <a:ext cx="274320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2880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9992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0332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  <a:latin typeface="Noto Sans CJK JP"/>
              </a:rPr>
              <a:t>図2 本発明の構成（入力・知識・合成・検証・出力）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06040"/>
            <a:ext cx="274320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2880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9992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0332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  <a:latin typeface="Noto Sans CJK JP"/>
              </a:rPr>
              <a:t>図3 処理の流れ（取り込み〜出力）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606040"/>
            <a:ext cx="274320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04120" y="2880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29992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0332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  <a:latin typeface="Noto Sans CJK JP"/>
              </a:rPr>
              <a:t>図4 トレーサビリティの例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7772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JP"/>
              </a:rPr>
              <a:t>Confidential(Yokogawa)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6539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Noto Sans CJK JP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