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Noto Sans CJK JP"/>
              </a:rPr>
              <a:t>業務改善プロジェクト
インフォグラフィック概要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666666"/>
                </a:solidFill>
                <a:latin typeface="Noto Sans CJK JP"/>
              </a:rPr>
              <a:t>現状課題 → 施策 → 効果 を一目で伝えるプレゼン資料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Noto Sans CJK JP"/>
              </a:rPr>
              <a:t>Sample Infographic Deck  |  編集してご利用ください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主要KPIサマリー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施策導入後の定量効果（サンプル数値）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27299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27299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217009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1F4E79"/>
                </a:solidFill>
                <a:latin typeface="Noto Sans CJK JP"/>
              </a:rPr>
              <a:t>▲32%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21700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2D2D"/>
                </a:solidFill>
                <a:latin typeface="Noto Sans CJK JP"/>
              </a:rPr>
              <a:t>作業時間削減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21700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Noto Sans CJK JP"/>
              </a:rPr>
              <a:t>定型業務の自動化により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0531" y="1280160"/>
            <a:ext cx="2627299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0531" y="1280160"/>
            <a:ext cx="2627299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9131" y="1920240"/>
            <a:ext cx="217009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2E75B6"/>
                </a:solidFill>
                <a:latin typeface="Noto Sans CJK JP"/>
              </a:rPr>
              <a:t>98%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9131" y="3108960"/>
            <a:ext cx="21700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2D2D"/>
                </a:solidFill>
                <a:latin typeface="Noto Sans CJK JP"/>
              </a:rPr>
              <a:t>顧客満足度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9131" y="3611880"/>
            <a:ext cx="21700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Noto Sans CJK JP"/>
              </a:rPr>
              <a:t>前年比 +12pt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280160"/>
            <a:ext cx="2627299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3863" y="1280160"/>
            <a:ext cx="2627299" cy="1645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2463" y="1920240"/>
            <a:ext cx="217009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5B9BD5"/>
                </a:solidFill>
                <a:latin typeface="Noto Sans CJK JP"/>
              </a:rPr>
              <a:t>1.8x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463" y="3108960"/>
            <a:ext cx="21700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2D2D"/>
                </a:solidFill>
                <a:latin typeface="Noto Sans CJK JP"/>
              </a:rPr>
              <a:t>処理スピード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3611880"/>
            <a:ext cx="21700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Noto Sans CJK JP"/>
              </a:rPr>
              <a:t>ボトルネック解消後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7195" y="1280160"/>
            <a:ext cx="2627299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7195" y="1280160"/>
            <a:ext cx="2627299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5795" y="1920240"/>
            <a:ext cx="217009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ED7D31"/>
                </a:solidFill>
                <a:latin typeface="Noto Sans CJK JP"/>
              </a:rPr>
              <a:t>¥24M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5795" y="3108960"/>
            <a:ext cx="21700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2D2D"/>
                </a:solidFill>
                <a:latin typeface="Noto Sans CJK JP"/>
              </a:rPr>
              <a:t>年間コスト削減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5795" y="3611880"/>
            <a:ext cx="21700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Noto Sans CJK JP"/>
              </a:rPr>
              <a:t>人件費・手戻り含む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推進プロセス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仮説検証を回しながら、確実に成果へつなげる5ステップ</a:t>
            </a:r>
          </a:p>
        </p:txBody>
      </p:sp>
      <p:sp>
        <p:nvSpPr>
          <p:cNvPr id="5" name="Chevron 4"/>
          <p:cNvSpPr/>
          <p:nvPr/>
        </p:nvSpPr>
        <p:spPr>
          <a:xfrm>
            <a:off x="457200" y="1417320"/>
            <a:ext cx="2167676" cy="1051560"/>
          </a:xfrm>
          <a:prstGeom prst="chevron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1. 現状把握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88920"/>
            <a:ext cx="2167676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3017520"/>
            <a:ext cx="183849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現場ヒアリングとデータ分析で、課題とボトルネックを可視化します。</a:t>
            </a:r>
          </a:p>
        </p:txBody>
      </p:sp>
      <p:sp>
        <p:nvSpPr>
          <p:cNvPr id="8" name="Chevron 7"/>
          <p:cNvSpPr/>
          <p:nvPr/>
        </p:nvSpPr>
        <p:spPr>
          <a:xfrm>
            <a:off x="2734604" y="1417320"/>
            <a:ext cx="2167676" cy="1051560"/>
          </a:xfrm>
          <a:prstGeom prst="chevron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2. 論点整理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604" y="2788920"/>
            <a:ext cx="2167676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9196" y="3017520"/>
            <a:ext cx="183849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優先度・影響度で論点を絞り、施策の仮説を立てます。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012009" y="1417320"/>
            <a:ext cx="2167676" cy="1051560"/>
          </a:xfrm>
          <a:prstGeom prst="chevron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3. 施策設計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2009" y="2788920"/>
            <a:ext cx="2167676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6601" y="3017520"/>
            <a:ext cx="183849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小さな実験単位に分解し、成功条件とKPIを定義します。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7289413" y="1417320"/>
            <a:ext cx="2167676" cy="1051560"/>
          </a:xfrm>
          <a:prstGeom prst="chevron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4. 実行・検証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9413" y="2788920"/>
            <a:ext cx="2167676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4005" y="3017520"/>
            <a:ext cx="183849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パイロット導入後、週次で効果測定と改善を繰り返します。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9566818" y="1417320"/>
            <a:ext cx="2167676" cy="1051560"/>
          </a:xfrm>
          <a:prstGeom prst="chevron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5. 横展開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66818" y="2788920"/>
            <a:ext cx="2167676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1410" y="3017520"/>
            <a:ext cx="183849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再現可能な仕組みとして標準化し、他部署へ展開します。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Before / After 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業務プロセスの変化を対比して示す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64008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JP"/>
              </a:rPr>
              <a:t>Before（改善前）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・属人的なノウハウに依存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・手作業の転記・確認が多い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・進捗が見えず遅延が発覚しづらい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・問い合わせ対応に平均2日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・改善活動が散発的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30975" y="128016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30975" y="1280160"/>
            <a:ext cx="530352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295" y="1389888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JP"/>
              </a:rPr>
              <a:t>After（改善後）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6735" y="219456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・標準手順とチェックリストを整備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・自動連携で転記ミスをゼロ化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・ダッシュボードでリアルタイム可視化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・一次回答を当日中に完了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・週次レビューで継続改善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15000" y="3291840"/>
            <a:ext cx="777240" cy="41148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四半期単位のマイルストーン（サンプル）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1051560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2889504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-228600" y="1005840"/>
            <a:ext cx="210312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118872" y="1115568"/>
            <a:ext cx="1883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Noto Sans CJK JP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18872" y="141732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Noto Sans CJK JP"/>
              </a:rPr>
              <a:t>現状診断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18872" y="1828800"/>
            <a:ext cx="1883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Noto Sans CJK JP"/>
              </a:rPr>
              <a:t>課題の洗い出しとKPI定義</a:t>
            </a:r>
          </a:p>
        </p:txBody>
      </p:sp>
      <p:sp>
        <p:nvSpPr>
          <p:cNvPr id="11" name="Oval 10"/>
          <p:cNvSpPr/>
          <p:nvPr/>
        </p:nvSpPr>
        <p:spPr>
          <a:xfrm>
            <a:off x="4163568" y="2889504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76600" y="3520440"/>
            <a:ext cx="210312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6328" y="3630168"/>
            <a:ext cx="1883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E75B6"/>
                </a:solidFill>
                <a:latin typeface="Noto Sans CJK JP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6328" y="393192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Noto Sans CJK JP"/>
              </a:rPr>
              <a:t>パイロット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6328" y="4343400"/>
            <a:ext cx="1883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Noto Sans CJK JP"/>
              </a:rPr>
              <a:t>対象業務で小さく検証</a:t>
            </a:r>
          </a:p>
        </p:txBody>
      </p:sp>
      <p:sp>
        <p:nvSpPr>
          <p:cNvPr id="16" name="Oval 15"/>
          <p:cNvSpPr/>
          <p:nvPr/>
        </p:nvSpPr>
        <p:spPr>
          <a:xfrm>
            <a:off x="7668768" y="2889504"/>
            <a:ext cx="329184" cy="329184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81800" y="1005840"/>
            <a:ext cx="210312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1528" y="1115568"/>
            <a:ext cx="1883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B9BD5"/>
                </a:solidFill>
                <a:latin typeface="Noto Sans CJK JP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1528" y="141732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Noto Sans CJK JP"/>
              </a:rPr>
              <a:t>本格導入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1528" y="1828800"/>
            <a:ext cx="1883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Noto Sans CJK JP"/>
              </a:rPr>
              <a:t>運用定着と教育展開</a:t>
            </a:r>
          </a:p>
        </p:txBody>
      </p:sp>
      <p:sp>
        <p:nvSpPr>
          <p:cNvPr id="21" name="Oval 20"/>
          <p:cNvSpPr/>
          <p:nvPr/>
        </p:nvSpPr>
        <p:spPr>
          <a:xfrm>
            <a:off x="11173968" y="2889504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87000" y="3520440"/>
            <a:ext cx="210312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96728" y="3630168"/>
            <a:ext cx="1883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Noto Sans CJK JP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96728" y="3931920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Noto Sans CJK JP"/>
              </a:rPr>
              <a:t>最適化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6728" y="4343400"/>
            <a:ext cx="18836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Noto Sans CJK JP"/>
              </a:rPr>
              <a:t>効果測定と横展開計画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成功の3本柱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成果を継続させるための重点領域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576218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33829" y="1600200"/>
            <a:ext cx="822960" cy="8229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33829" y="173736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JP"/>
              </a:rPr>
              <a:t>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2104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Noto Sans CJK JP"/>
              </a:rPr>
              <a:t>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302757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Noto Sans CJK JP"/>
              </a:rPr>
              <a:t>・現場オーナーを明確化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Noto Sans CJK JP"/>
              </a:rPr>
              <a:t>・役割と権限を定義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Noto Sans CJK JP"/>
              </a:rPr>
              <a:t>・学習機会を定期提供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280160"/>
            <a:ext cx="3576218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84367" y="1600200"/>
            <a:ext cx="822960" cy="8229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4367" y="173736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JP"/>
              </a:rPr>
              <a:t>仕組み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651760"/>
            <a:ext cx="32104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Noto Sans CJK JP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3383280"/>
            <a:ext cx="302757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Noto Sans CJK JP"/>
              </a:rPr>
              <a:t>・標準手順を文書化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Noto Sans CJK JP"/>
              </a:rPr>
              <a:t>・例外対応ルールを整備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Noto Sans CJK JP"/>
              </a:rPr>
              <a:t>・レビュー周期を固定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280160"/>
            <a:ext cx="3576218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34905" y="1600200"/>
            <a:ext cx="822960" cy="82296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4905" y="1737360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JP"/>
              </a:rPr>
              <a:t>基盤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1156" y="2651760"/>
            <a:ext cx="32104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Noto Sans CJK JP"/>
              </a:rPr>
              <a:t>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3383280"/>
            <a:ext cx="302757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Noto Sans CJK JP"/>
              </a:rPr>
              <a:t>・データを一元管理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Noto Sans CJK JP"/>
              </a:rPr>
              <a:t>・可視化ダッシュボード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D2D2D"/>
                </a:solidFill>
                <a:latin typeface="Noto Sans CJK JP"/>
              </a:rPr>
              <a:t>・自動化できる箇所を拡張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施策ポートフォリオ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効果と実現容易性のマトリクスで優先順位を決定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44068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64592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Noto Sans CJK JP"/>
              </a:rPr>
              <a:t>Quick Win（すぐやる）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892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効果高く、実装も容易。定型報告の自動化やテンプレート整備など、短期間で成果が出る施策を最優先で着手します。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44068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164592" cy="2377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46304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Noto Sans CJK JP"/>
              </a:rPr>
              <a:t>Strategic Bet（戦略投資）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892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効果は高いが難易度も高い領域。システム刷新や組織横断連携など、計画的に資源を投下します。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544068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164592" cy="2377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Noto Sans CJK JP"/>
              </a:rPr>
              <a:t>Fill-in（余力で実施）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4892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容易だが効果は限定的。本丸施策の合間に実施し、現場の小さな不便を解消します。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86200"/>
            <a:ext cx="544068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86200"/>
            <a:ext cx="164592" cy="23774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11480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0AD47"/>
                </a:solidFill>
                <a:latin typeface="Noto Sans CJK JP"/>
              </a:rPr>
              <a:t>Avoid / Later（後回し）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709160"/>
            <a:ext cx="4892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効果が見えにくくコストが高い施策。前提条件が整うまで保留し、定期的に再評価します。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本日のメッセージ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意思決定と次アクションにつながる要点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99032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4416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課題を数値で共有する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7335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感覚ではなくKPIで現状を揃え、議論の前提をそろえる。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404872"/>
            <a:ext cx="548640" cy="5486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5000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小さく試し、早く学ぶ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791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大規模導入の前にパイロットで効果とリスクを検証する。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410712"/>
            <a:ext cx="548640" cy="5486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0215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5584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人と仕組みを同時に整える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6850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ツール導入だけでなく、役割・手順・レビューをセットで設計する。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5196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416552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0799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6168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横展開可能な形で残す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6908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成功事例をテンプレート化し、再現性のある改善資産にする。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