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0972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>
                <a:solidFill>
                  <a:srgbClr val="1F4E79"/>
                </a:solidFill>
                <a:latin typeface="Noto Sans CJK JP"/>
              </a:rPr>
              <a:t>業務改善プロジェクト
インフォグラフィック概要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38328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666666"/>
                </a:solidFill>
                <a:latin typeface="Noto Sans CJK JP"/>
              </a:rPr>
              <a:t>現状課題 → 施策 → 効果 を一目で伝えるプレゼン資料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Noto Sans CJK JP"/>
              </a:rPr>
              <a:t>Sample Infographic Deck  |  編集してご利用ください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主要KPIサマリー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施策導入後の定量効果（サンプル数値）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627299" cy="16459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1F4E79"/>
                </a:solidFill>
                <a:latin typeface="Noto Sans CJK JP"/>
              </a:rPr>
              <a:t>▲32%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作業時間削減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定型業務の自動化により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40531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40531" y="1280160"/>
            <a:ext cx="2627299" cy="164592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9131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2E75B6"/>
                </a:solidFill>
                <a:latin typeface="Noto Sans CJK JP"/>
              </a:rPr>
              <a:t>98%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9131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顧客満足度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9131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前年比 +12pt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23863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23863" y="1280160"/>
            <a:ext cx="2627299" cy="164592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52463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5B9BD5"/>
                </a:solidFill>
                <a:latin typeface="Noto Sans CJK JP"/>
              </a:rPr>
              <a:t>1.8x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2463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処理スピード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ボトルネック解消後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07195" y="1280160"/>
            <a:ext cx="2627299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07195" y="1280160"/>
            <a:ext cx="2627299" cy="16459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35795" y="1920240"/>
            <a:ext cx="2170099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200" b="1">
                <a:solidFill>
                  <a:srgbClr val="ED7D31"/>
                </a:solidFill>
                <a:latin typeface="Noto Sans CJK JP"/>
              </a:rPr>
              <a:t>¥24M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5795" y="3108960"/>
            <a:ext cx="217009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2D2D2D"/>
                </a:solidFill>
                <a:latin typeface="Noto Sans CJK JP"/>
              </a:rPr>
              <a:t>年間コスト削減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35795" y="3611880"/>
            <a:ext cx="2170099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66666"/>
                </a:solidFill>
                <a:latin typeface="Noto Sans CJK JP"/>
              </a:rPr>
              <a:t>人件費・手戻り含む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推進プロセス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仮説検証を回しながら、確実に成果へつなげる5ステップ</a:t>
            </a:r>
          </a:p>
        </p:txBody>
      </p:sp>
      <p:sp>
        <p:nvSpPr>
          <p:cNvPr id="5" name="Chevron 4"/>
          <p:cNvSpPr/>
          <p:nvPr/>
        </p:nvSpPr>
        <p:spPr>
          <a:xfrm>
            <a:off x="457200" y="1417320"/>
            <a:ext cx="2167676" cy="1051560"/>
          </a:xfrm>
          <a:prstGeom prst="chevron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1. 現状把握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現場ヒアリングとデータ分析で、課題とボトルネックを可視化します。</a:t>
            </a:r>
          </a:p>
        </p:txBody>
      </p:sp>
      <p:sp>
        <p:nvSpPr>
          <p:cNvPr id="8" name="Chevron 7"/>
          <p:cNvSpPr/>
          <p:nvPr/>
        </p:nvSpPr>
        <p:spPr>
          <a:xfrm>
            <a:off x="2734604" y="1417320"/>
            <a:ext cx="2167676" cy="1051560"/>
          </a:xfrm>
          <a:prstGeom prst="chevron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2. 論点整理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34604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99196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優先度・影響度で論点を絞り、施策の仮説を立てます。</a:t>
            </a:r>
          </a:p>
        </p:txBody>
      </p:sp>
      <p:sp>
        <p:nvSpPr>
          <p:cNvPr id="11" name="Chevron 10"/>
          <p:cNvSpPr/>
          <p:nvPr/>
        </p:nvSpPr>
        <p:spPr>
          <a:xfrm>
            <a:off x="5012009" y="1417320"/>
            <a:ext cx="2167676" cy="1051560"/>
          </a:xfrm>
          <a:prstGeom prst="chevron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3. 施策設計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12009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6601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小さな実験単位に分解し、成功条件とKPIを定義します。</a:t>
            </a:r>
          </a:p>
        </p:txBody>
      </p:sp>
      <p:sp>
        <p:nvSpPr>
          <p:cNvPr id="14" name="Chevron 13"/>
          <p:cNvSpPr/>
          <p:nvPr/>
        </p:nvSpPr>
        <p:spPr>
          <a:xfrm>
            <a:off x="7289413" y="1417320"/>
            <a:ext cx="2167676" cy="1051560"/>
          </a:xfrm>
          <a:prstGeom prst="chevron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4. 実行・検証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89413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54005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パイロット導入後、週次で効果測定と改善を繰り返します。</a:t>
            </a:r>
          </a:p>
        </p:txBody>
      </p:sp>
      <p:sp>
        <p:nvSpPr>
          <p:cNvPr id="17" name="Chevron 16"/>
          <p:cNvSpPr/>
          <p:nvPr/>
        </p:nvSpPr>
        <p:spPr>
          <a:xfrm>
            <a:off x="9566818" y="1417320"/>
            <a:ext cx="2167676" cy="1051560"/>
          </a:xfrm>
          <a:prstGeom prst="chevron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Noto Sans CJK JP"/>
              </a:rPr>
              <a:t>5. 横展開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6818" y="2788920"/>
            <a:ext cx="2167676" cy="3108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31410" y="3017520"/>
            <a:ext cx="1838492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2D2D2D"/>
                </a:solidFill>
                <a:latin typeface="Noto Sans CJK JP"/>
              </a:rPr>
              <a:t>再現可能な仕組みとして標準化し、他部署へ展開します。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Before / After 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業務プロセスの変化を対比して示す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5303520" cy="640080"/>
          </a:xfrm>
          <a:prstGeom prst="rect">
            <a:avLst/>
          </a:prstGeom>
          <a:solidFill>
            <a:srgbClr val="A5A5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Before（改善前）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・属人的なノウハウに依存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・手作業の転記・確認が多い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・進捗が見えず遅延が発覚しづらい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・問い合わせ対応に平均2日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・改善活動が散発的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30975" y="1280160"/>
            <a:ext cx="5303520" cy="4572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30975" y="1280160"/>
            <a:ext cx="5303520" cy="640080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05295" y="1389888"/>
            <a:ext cx="4754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CJK JP"/>
              </a:rPr>
              <a:t>After（改善後）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6735" y="2194560"/>
            <a:ext cx="4572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・標準手順とチェックリストを整備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・自動連携で転記ミスをゼロ化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・ダッシュボードでリアルタイム可視化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・一次回答を当日中に完了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2D2D2D"/>
                </a:solidFill>
                <a:latin typeface="Noto Sans CJK JP"/>
              </a:rPr>
              <a:t>・週次レビューで継続改善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15000" y="3291840"/>
            <a:ext cx="777240" cy="411480"/>
          </a:xfrm>
          <a:prstGeom prst="rightArrow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112471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  <a:latin typeface="Noto Sans CJK JP"/>
              </a:rPr>
              <a:t>本日のメッセージ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666666"/>
                </a:solidFill>
                <a:latin typeface="Noto Sans CJK JP"/>
              </a:rPr>
              <a:t>意思決定と次アクションにつながる要点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3444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85800" y="1399032"/>
            <a:ext cx="548640" cy="548640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9047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34416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課題を数値で共有する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7335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感覚ではなくKPIで現状を揃え、議論の前提をそろえる。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85800" y="2404872"/>
            <a:ext cx="548640" cy="548640"/>
          </a:xfrm>
          <a:prstGeom prst="ellipse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49631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35000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小さく試し、早く学ぶ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7919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大規模導入の前にパイロットで効果とリスクを検証する。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46120"/>
            <a:ext cx="11277295" cy="868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5800" y="3410712"/>
            <a:ext cx="548640" cy="5486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502152"/>
            <a:ext cx="5486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Noto Sans CJK JP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355848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  <a:latin typeface="Noto Sans CJK JP"/>
              </a:rPr>
              <a:t>人と仕組みを同時に整える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3685032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666666"/>
                </a:solidFill>
                <a:latin typeface="Noto Sans CJK JP"/>
              </a:rPr>
              <a:t>ツール導入だけでなく、役割・手順・レビューをセットで設計する。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