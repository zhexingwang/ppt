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456452-A9B1-4108-BB85-133D3FCFC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BF146-13F5-4760-BB0B-F677B74285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096BB44-ACA5-4E96-93A2-D5C9F28D72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E4D78DC-D399-4A8D-A7C9-F1FE02CEC8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5A6D2DE-7B38-4D1A-B15E-897E75223E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5757DFF-0A22-47BA-8FE3-21891D753D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547963F-D46E-4CFE-AA5E-12E4233344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218CB40-FC56-4B62-86F2-3B7C68FE1C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9810C98-0489-41C4-B489-EE361733B0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0B41660-0592-4896-9D43-68A5E4987B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D3F3F66-D80F-4904-8FD7-872799E5B0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80DA21-B254-4B34-ABB3-8DB3993C81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096C0F-A6F2-467C-9B33-BF6B799072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A78403-B5D4-4C6B-909A-70944446DA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5A5E0F-8DCE-4188-A927-938463EDD1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74C7DD-4601-41E5-AA8D-BE16AE2D38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797344-A7CC-45B9-9D8A-7D630CAED0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EAFC6D-1122-4035-8A1F-2C83252A0B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61324D-D12D-4350-A64A-A8C262F56C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CECBA2-7609-4DF9-8A34-86CB9796E4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7FEFB8-DF28-467D-BD08-05DA6CB9C7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48BA2D-F280-4755-94F8-362564F47D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11480" y="48240"/>
            <a:ext cx="3657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Noto Sans CJK JP"/>
              </a:rPr>
              <a:t>自己紹介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411480" y="685800"/>
            <a:ext cx="4937400" cy="868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411480" y="685800"/>
            <a:ext cx="4937400" cy="8683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99120"/>
            <a:ext cx="45716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600" spc="-1" strike="noStrike">
                <a:solidFill>
                  <a:srgbClr val="1f4e79"/>
                </a:solidFill>
                <a:latin typeface="Noto Sans CJK JP"/>
              </a:rPr>
              <a:t>王 者興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40080" y="1153080"/>
            <a:ext cx="4571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材料科学 </a:t>
            </a:r>
            <a:r>
              <a:rPr b="0" lang="en-US" sz="1200" spc="-1" strike="noStrike">
                <a:solidFill>
                  <a:srgbClr val="5a6a7a"/>
                </a:solidFill>
                <a:latin typeface="Noto Sans CJK JP"/>
              </a:rPr>
              <a:t>× </a:t>
            </a: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化学工学 </a:t>
            </a:r>
            <a:r>
              <a:rPr b="0" lang="en-US" sz="1200" spc="-1" strike="noStrike">
                <a:solidFill>
                  <a:srgbClr val="5a6a7a"/>
                </a:solidFill>
                <a:latin typeface="Noto Sans CJK JP"/>
              </a:rPr>
              <a:t>× </a:t>
            </a: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プロセスシステム工学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669280" y="945720"/>
            <a:ext cx="6034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1f4e79"/>
                </a:solidFill>
                <a:latin typeface="Noto Sans CJK JP"/>
              </a:rPr>
              <a:t>キャリアの歩み ─ 西安から日本、研究、そして協業へ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1802880" y="2379600"/>
            <a:ext cx="8586000" cy="4068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ight Arrow 9"/>
          <p:cNvSpPr/>
          <p:nvPr/>
        </p:nvSpPr>
        <p:spPr>
          <a:xfrm>
            <a:off x="3124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ight Arrow 10"/>
          <p:cNvSpPr/>
          <p:nvPr/>
        </p:nvSpPr>
        <p:spPr>
          <a:xfrm>
            <a:off x="5986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ight Arrow 11"/>
          <p:cNvSpPr/>
          <p:nvPr/>
        </p:nvSpPr>
        <p:spPr>
          <a:xfrm>
            <a:off x="8848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Oval 12"/>
          <p:cNvSpPr/>
          <p:nvPr/>
        </p:nvSpPr>
        <p:spPr>
          <a:xfrm>
            <a:off x="1222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9" name="Picture 13" descr="icon_xian_ppt.png"/>
          <p:cNvPicPr/>
          <p:nvPr/>
        </p:nvPicPr>
        <p:blipFill>
          <a:blip r:embed="rId1"/>
          <a:stretch/>
        </p:blipFill>
        <p:spPr>
          <a:xfrm>
            <a:off x="118548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80" name="Oval 14"/>
          <p:cNvSpPr/>
          <p:nvPr/>
        </p:nvSpPr>
        <p:spPr>
          <a:xfrm>
            <a:off x="116712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116712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16"/>
          <p:cNvSpPr/>
          <p:nvPr/>
        </p:nvSpPr>
        <p:spPr>
          <a:xfrm>
            <a:off x="45396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7"/>
          <p:cNvSpPr/>
          <p:nvPr/>
        </p:nvSpPr>
        <p:spPr>
          <a:xfrm>
            <a:off x="45396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655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出身 中国・西安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655200" y="3657600"/>
            <a:ext cx="2377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かつて「長安」と呼ばれた都市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4084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7" name="Picture 21" descr="icon_japan_ppt.png"/>
          <p:cNvPicPr/>
          <p:nvPr/>
        </p:nvPicPr>
        <p:blipFill>
          <a:blip r:embed="rId2"/>
          <a:stretch/>
        </p:blipFill>
        <p:spPr>
          <a:xfrm>
            <a:off x="404748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88" name="Oval 22"/>
          <p:cNvSpPr/>
          <p:nvPr/>
        </p:nvSpPr>
        <p:spPr>
          <a:xfrm>
            <a:off x="4029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4029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24"/>
          <p:cNvSpPr/>
          <p:nvPr/>
        </p:nvSpPr>
        <p:spPr>
          <a:xfrm>
            <a:off x="331596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25"/>
          <p:cNvSpPr/>
          <p:nvPr/>
        </p:nvSpPr>
        <p:spPr>
          <a:xfrm>
            <a:off x="331596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6"/>
          <p:cNvSpPr/>
          <p:nvPr/>
        </p:nvSpPr>
        <p:spPr>
          <a:xfrm>
            <a:off x="3517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e79"/>
                </a:solidFill>
                <a:latin typeface="Noto Sans CJK JP"/>
              </a:rPr>
              <a:t>2011 </a:t>
            </a: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来日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7"/>
          <p:cNvSpPr/>
          <p:nvPr/>
        </p:nvSpPr>
        <p:spPr>
          <a:xfrm>
            <a:off x="351720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材料科学で大学卒業後、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日本語学校で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2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年学び大学院へ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Oval 28"/>
          <p:cNvSpPr/>
          <p:nvPr/>
        </p:nvSpPr>
        <p:spPr>
          <a:xfrm>
            <a:off x="6946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5" name="Picture 29" descr="icon_lab_ppt.png"/>
          <p:cNvPicPr/>
          <p:nvPr/>
        </p:nvPicPr>
        <p:blipFill>
          <a:blip r:embed="rId3"/>
          <a:stretch/>
        </p:blipFill>
        <p:spPr>
          <a:xfrm>
            <a:off x="690984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96" name="Oval 30"/>
          <p:cNvSpPr/>
          <p:nvPr/>
        </p:nvSpPr>
        <p:spPr>
          <a:xfrm>
            <a:off x="6891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31"/>
          <p:cNvSpPr/>
          <p:nvPr/>
        </p:nvSpPr>
        <p:spPr>
          <a:xfrm>
            <a:off x="6891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32"/>
          <p:cNvSpPr/>
          <p:nvPr/>
        </p:nvSpPr>
        <p:spPr>
          <a:xfrm>
            <a:off x="617832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33"/>
          <p:cNvSpPr/>
          <p:nvPr/>
        </p:nvSpPr>
        <p:spPr>
          <a:xfrm>
            <a:off x="617832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34"/>
          <p:cNvSpPr/>
          <p:nvPr/>
        </p:nvSpPr>
        <p:spPr>
          <a:xfrm>
            <a:off x="6379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福岡大学大学院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5"/>
          <p:cNvSpPr/>
          <p:nvPr/>
        </p:nvSpPr>
        <p:spPr>
          <a:xfrm>
            <a:off x="637920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工学研究科 化学工学・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プロセスシステム工学 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/ 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野田賢 教授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Oval 36"/>
          <p:cNvSpPr/>
          <p:nvPr/>
        </p:nvSpPr>
        <p:spPr>
          <a:xfrm>
            <a:off x="9808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3" name="Picture 37" descr="icon_yokogawa_ppt.png"/>
          <p:cNvPicPr/>
          <p:nvPr/>
        </p:nvPicPr>
        <p:blipFill>
          <a:blip r:embed="rId4"/>
          <a:stretch/>
        </p:blipFill>
        <p:spPr>
          <a:xfrm>
            <a:off x="977184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104" name="Oval 38"/>
          <p:cNvSpPr/>
          <p:nvPr/>
        </p:nvSpPr>
        <p:spPr>
          <a:xfrm>
            <a:off x="9753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39"/>
          <p:cNvSpPr/>
          <p:nvPr/>
        </p:nvSpPr>
        <p:spPr>
          <a:xfrm>
            <a:off x="9753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40"/>
          <p:cNvSpPr/>
          <p:nvPr/>
        </p:nvSpPr>
        <p:spPr>
          <a:xfrm>
            <a:off x="904032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41"/>
          <p:cNvSpPr/>
          <p:nvPr/>
        </p:nvSpPr>
        <p:spPr>
          <a:xfrm>
            <a:off x="904032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42"/>
          <p:cNvSpPr/>
          <p:nvPr/>
        </p:nvSpPr>
        <p:spPr>
          <a:xfrm>
            <a:off x="924156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e79"/>
                </a:solidFill>
                <a:latin typeface="Noto Sans CJK JP"/>
              </a:rPr>
              <a:t>2018- </a:t>
            </a: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横河電機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3"/>
          <p:cNvSpPr/>
          <p:nvPr/>
        </p:nvSpPr>
        <p:spPr>
          <a:xfrm>
            <a:off x="924156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イノベーションセンター所属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→ 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2025 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横河ソリューションサービス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44"/>
          <p:cNvSpPr/>
          <p:nvPr/>
        </p:nvSpPr>
        <p:spPr>
          <a:xfrm>
            <a:off x="365760" y="4892040"/>
            <a:ext cx="11429640" cy="1416960"/>
          </a:xfrm>
          <a:prstGeom prst="roundRect">
            <a:avLst>
              <a:gd name="adj" fmla="val 10000"/>
            </a:avLst>
          </a:prstGeom>
          <a:solidFill>
            <a:srgbClr val="16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45"/>
          <p:cNvSpPr/>
          <p:nvPr/>
        </p:nvSpPr>
        <p:spPr>
          <a:xfrm>
            <a:off x="640080" y="5029200"/>
            <a:ext cx="3657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2c94c"/>
                </a:solidFill>
                <a:latin typeface="Noto Sans CJK JP"/>
              </a:rPr>
              <a:t>年表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Oval 46"/>
          <p:cNvSpPr/>
          <p:nvPr/>
        </p:nvSpPr>
        <p:spPr>
          <a:xfrm>
            <a:off x="64008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47"/>
          <p:cNvSpPr/>
          <p:nvPr/>
        </p:nvSpPr>
        <p:spPr>
          <a:xfrm>
            <a:off x="91440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2011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48"/>
          <p:cNvSpPr/>
          <p:nvPr/>
        </p:nvSpPr>
        <p:spPr>
          <a:xfrm>
            <a:off x="91440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中国で大学卒業（材料科学）後に来日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日本語学校</a:t>
            </a:r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2</a:t>
            </a: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年 → 大学院進学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Oval 49"/>
          <p:cNvSpPr/>
          <p:nvPr/>
        </p:nvSpPr>
        <p:spPr>
          <a:xfrm>
            <a:off x="329184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50"/>
          <p:cNvSpPr/>
          <p:nvPr/>
        </p:nvSpPr>
        <p:spPr>
          <a:xfrm>
            <a:off x="356616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2018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1"/>
          <p:cNvSpPr/>
          <p:nvPr/>
        </p:nvSpPr>
        <p:spPr>
          <a:xfrm>
            <a:off x="356616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博士号取得、横河電機入社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イノベーションセンター（研究所）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Oval 52"/>
          <p:cNvSpPr/>
          <p:nvPr/>
        </p:nvSpPr>
        <p:spPr>
          <a:xfrm>
            <a:off x="594360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53"/>
          <p:cNvSpPr/>
          <p:nvPr/>
        </p:nvSpPr>
        <p:spPr>
          <a:xfrm>
            <a:off x="621792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2023</a:t>
            </a:r>
            <a:r>
              <a:rPr b="1" lang="zh-CN" sz="1300" spc="-1" strike="noStrike">
                <a:solidFill>
                  <a:srgbClr val="f2c94c"/>
                </a:solidFill>
                <a:latin typeface="Noto Sans CJK JP"/>
              </a:rPr>
              <a:t>後半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4"/>
          <p:cNvSpPr/>
          <p:nvPr/>
        </p:nvSpPr>
        <p:spPr>
          <a:xfrm>
            <a:off x="621792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PCP</a:t>
            </a: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様との協業開始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関連テーマとモデル活用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val 55"/>
          <p:cNvSpPr/>
          <p:nvPr/>
        </p:nvSpPr>
        <p:spPr>
          <a:xfrm>
            <a:off x="859536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56"/>
          <p:cNvSpPr/>
          <p:nvPr/>
        </p:nvSpPr>
        <p:spPr>
          <a:xfrm>
            <a:off x="886968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7"/>
          <p:cNvSpPr/>
          <p:nvPr/>
        </p:nvSpPr>
        <p:spPr>
          <a:xfrm>
            <a:off x="8869680" y="5623560"/>
            <a:ext cx="2331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横河ソリューションサービスへ転籍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