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D700CD-AF69-4CAA-BDD9-2AB72B6E81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DF4D4C-1329-48A4-A962-32A09ABA98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830C9FC-F10C-433C-83D3-76D4533035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7587C9D-C57A-41B4-ADE2-EBAB5C9A66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D16733C-A4A0-45A1-8CDE-A202D61C08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A44D43D-A829-4700-835B-977902ABEB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6CB154C-6947-4248-BDD1-4FC66E4D2E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E01D9A-3BAB-4E39-8EB4-F030E2DDFD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22A00E8-5B2B-42AD-972F-850B294582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ABC21D4-494E-4EA1-9E40-3E4D326567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808E2DD-62BF-4DC3-B12B-768850FCEE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BCA2C5-F10D-4AB0-A9AC-9B3363D2A8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0137D3-23DD-44C0-BFB1-53BD71897B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35F7FE-5B96-40B1-A09D-98973BC9FF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A86EC4-8BFB-404C-A988-A1B5D1F875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84DC2B-C853-4A31-B72B-D0F14C9BCE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90953B-A5E5-47FD-AEDE-8C621CF9EF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6B03DF-4B69-4516-8845-2926DA010D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245828-4A19-461A-BFD7-287428369C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4BA2A-CD2F-44E4-AFE1-2E6CCDD88F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CDE5ED-3D67-49D8-A74E-BE90001B58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FB6A58-061E-4AB7-B3AD-9DBBD54F8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self_intro_infographic_ppt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11480" y="48240"/>
            <a:ext cx="3657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200" spc="-1" strike="noStrike">
                <a:solidFill>
                  <a:srgbClr val="ffffff"/>
                </a:solidFill>
                <a:latin typeface="Noto Sans CJK JP"/>
              </a:rPr>
              <a:t>自己紹介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3"/>
          <p:cNvSpPr/>
          <p:nvPr/>
        </p:nvSpPr>
        <p:spPr>
          <a:xfrm>
            <a:off x="411480" y="685800"/>
            <a:ext cx="4937400" cy="868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ounded Rectangle 4"/>
          <p:cNvSpPr/>
          <p:nvPr/>
        </p:nvSpPr>
        <p:spPr>
          <a:xfrm>
            <a:off x="411480" y="685800"/>
            <a:ext cx="4937400" cy="86832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40080" y="699120"/>
            <a:ext cx="45716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2600" spc="-1" strike="noStrike">
                <a:solidFill>
                  <a:srgbClr val="1f4e79"/>
                </a:solidFill>
                <a:latin typeface="Noto Sans CJK JP"/>
              </a:rPr>
              <a:t>王 者興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640080" y="1153080"/>
            <a:ext cx="4571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材料科学 </a:t>
            </a:r>
            <a:r>
              <a:rPr b="0" lang="en-US" sz="1200" spc="-1" strike="noStrike">
                <a:solidFill>
                  <a:srgbClr val="5a6a7a"/>
                </a:solidFill>
                <a:latin typeface="Noto Sans CJK JP"/>
              </a:rPr>
              <a:t>× </a:t>
            </a: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化学工学 </a:t>
            </a:r>
            <a:r>
              <a:rPr b="0" lang="en-US" sz="1200" spc="-1" strike="noStrike">
                <a:solidFill>
                  <a:srgbClr val="5a6a7a"/>
                </a:solidFill>
                <a:latin typeface="Noto Sans CJK JP"/>
              </a:rPr>
              <a:t>× </a:t>
            </a:r>
            <a:r>
              <a:rPr b="0" lang="zh-CN" sz="1200" spc="-1" strike="noStrike">
                <a:solidFill>
                  <a:srgbClr val="5a6a7a"/>
                </a:solidFill>
                <a:latin typeface="Noto Sans CJK JP"/>
              </a:rPr>
              <a:t>プロセスシステム工学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5669280" y="945720"/>
            <a:ext cx="6034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zh-CN" sz="1400" spc="-1" strike="noStrike">
                <a:solidFill>
                  <a:srgbClr val="1f4e79"/>
                </a:solidFill>
                <a:latin typeface="Noto Sans CJK JP"/>
              </a:rPr>
              <a:t>キャリアの歩み ─ 西安から日本、研究、そして協業へ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1802880" y="2379600"/>
            <a:ext cx="8586000" cy="4068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960" bIns="-3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ight Arrow 9"/>
          <p:cNvSpPr/>
          <p:nvPr/>
        </p:nvSpPr>
        <p:spPr>
          <a:xfrm>
            <a:off x="3124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ight Arrow 10"/>
          <p:cNvSpPr/>
          <p:nvPr/>
        </p:nvSpPr>
        <p:spPr>
          <a:xfrm>
            <a:off x="5986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ight Arrow 11"/>
          <p:cNvSpPr/>
          <p:nvPr/>
        </p:nvSpPr>
        <p:spPr>
          <a:xfrm>
            <a:off x="8848080" y="2309040"/>
            <a:ext cx="21924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Oval 12"/>
          <p:cNvSpPr/>
          <p:nvPr/>
        </p:nvSpPr>
        <p:spPr>
          <a:xfrm>
            <a:off x="1222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0" name="Picture 13" descr="icon_xian_ppt.png"/>
          <p:cNvPicPr/>
          <p:nvPr/>
        </p:nvPicPr>
        <p:blipFill>
          <a:blip r:embed="rId1"/>
          <a:stretch/>
        </p:blipFill>
        <p:spPr>
          <a:xfrm>
            <a:off x="118548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81" name="Oval 14"/>
          <p:cNvSpPr/>
          <p:nvPr/>
        </p:nvSpPr>
        <p:spPr>
          <a:xfrm>
            <a:off x="116712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116712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6"/>
          <p:cNvSpPr/>
          <p:nvPr/>
        </p:nvSpPr>
        <p:spPr>
          <a:xfrm>
            <a:off x="45396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17"/>
          <p:cNvSpPr/>
          <p:nvPr/>
        </p:nvSpPr>
        <p:spPr>
          <a:xfrm>
            <a:off x="45396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655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出身 中国・西安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9"/>
          <p:cNvSpPr/>
          <p:nvPr/>
        </p:nvSpPr>
        <p:spPr>
          <a:xfrm>
            <a:off x="655200" y="3657600"/>
            <a:ext cx="2377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かつて「長安」と呼ばれた都市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Oval 20"/>
          <p:cNvSpPr/>
          <p:nvPr/>
        </p:nvSpPr>
        <p:spPr>
          <a:xfrm>
            <a:off x="4084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8" name="Picture 21" descr="icon_japan_ppt.png"/>
          <p:cNvPicPr/>
          <p:nvPr/>
        </p:nvPicPr>
        <p:blipFill>
          <a:blip r:embed="rId2"/>
          <a:stretch/>
        </p:blipFill>
        <p:spPr>
          <a:xfrm>
            <a:off x="404748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89" name="Oval 22"/>
          <p:cNvSpPr/>
          <p:nvPr/>
        </p:nvSpPr>
        <p:spPr>
          <a:xfrm>
            <a:off x="4029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4029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24"/>
          <p:cNvSpPr/>
          <p:nvPr/>
        </p:nvSpPr>
        <p:spPr>
          <a:xfrm>
            <a:off x="331596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25"/>
          <p:cNvSpPr/>
          <p:nvPr/>
        </p:nvSpPr>
        <p:spPr>
          <a:xfrm>
            <a:off x="331596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26"/>
          <p:cNvSpPr/>
          <p:nvPr/>
        </p:nvSpPr>
        <p:spPr>
          <a:xfrm>
            <a:off x="3517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e79"/>
                </a:solidFill>
                <a:latin typeface="Noto Sans CJK JP"/>
              </a:rPr>
              <a:t>2011 </a:t>
            </a: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来日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351720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材料科学で大学卒業後、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日本語学校で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2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年学び大学院へ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Oval 28"/>
          <p:cNvSpPr/>
          <p:nvPr/>
        </p:nvSpPr>
        <p:spPr>
          <a:xfrm>
            <a:off x="6946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" name="Picture 29" descr="icon_lab_ppt.png"/>
          <p:cNvPicPr/>
          <p:nvPr/>
        </p:nvPicPr>
        <p:blipFill>
          <a:blip r:embed="rId3"/>
          <a:stretch/>
        </p:blipFill>
        <p:spPr>
          <a:xfrm>
            <a:off x="690984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97" name="Oval 30"/>
          <p:cNvSpPr/>
          <p:nvPr/>
        </p:nvSpPr>
        <p:spPr>
          <a:xfrm>
            <a:off x="6891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31"/>
          <p:cNvSpPr/>
          <p:nvPr/>
        </p:nvSpPr>
        <p:spPr>
          <a:xfrm>
            <a:off x="6891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32"/>
          <p:cNvSpPr/>
          <p:nvPr/>
        </p:nvSpPr>
        <p:spPr>
          <a:xfrm>
            <a:off x="617832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ectangle 33"/>
          <p:cNvSpPr/>
          <p:nvPr/>
        </p:nvSpPr>
        <p:spPr>
          <a:xfrm>
            <a:off x="617832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34"/>
          <p:cNvSpPr/>
          <p:nvPr/>
        </p:nvSpPr>
        <p:spPr>
          <a:xfrm>
            <a:off x="637920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福岡大学大学院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5"/>
          <p:cNvSpPr/>
          <p:nvPr/>
        </p:nvSpPr>
        <p:spPr>
          <a:xfrm>
            <a:off x="637920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工学研究科 化学工学・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プロセスシステム工学 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/ 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野田賢 教授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val 36"/>
          <p:cNvSpPr/>
          <p:nvPr/>
        </p:nvSpPr>
        <p:spPr>
          <a:xfrm>
            <a:off x="9808200" y="1819800"/>
            <a:ext cx="1234080" cy="1234080"/>
          </a:xfrm>
          <a:prstGeom prst="ellipse">
            <a:avLst/>
          </a:prstGeom>
          <a:solidFill>
            <a:srgbClr val="d0d8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4" name="Picture 37" descr="icon_yokogawa_ppt.png"/>
          <p:cNvPicPr/>
          <p:nvPr/>
        </p:nvPicPr>
        <p:blipFill>
          <a:blip r:embed="rId4"/>
          <a:stretch/>
        </p:blipFill>
        <p:spPr>
          <a:xfrm>
            <a:off x="9771840" y="1783080"/>
            <a:ext cx="1234080" cy="1234080"/>
          </a:xfrm>
          <a:prstGeom prst="rect">
            <a:avLst/>
          </a:prstGeom>
          <a:ln w="0">
            <a:noFill/>
          </a:ln>
        </p:spPr>
      </p:pic>
      <p:sp>
        <p:nvSpPr>
          <p:cNvPr id="105" name="Oval 38"/>
          <p:cNvSpPr/>
          <p:nvPr/>
        </p:nvSpPr>
        <p:spPr>
          <a:xfrm>
            <a:off x="9753480" y="1764720"/>
            <a:ext cx="292320" cy="29232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9"/>
          <p:cNvSpPr/>
          <p:nvPr/>
        </p:nvSpPr>
        <p:spPr>
          <a:xfrm>
            <a:off x="9753480" y="1713600"/>
            <a:ext cx="292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1f4e79"/>
                </a:solidFill>
                <a:latin typeface="Noto Sans CJK JP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40"/>
          <p:cNvSpPr/>
          <p:nvPr/>
        </p:nvSpPr>
        <p:spPr>
          <a:xfrm>
            <a:off x="9040320" y="3246120"/>
            <a:ext cx="26971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ectangle 41"/>
          <p:cNvSpPr/>
          <p:nvPr/>
        </p:nvSpPr>
        <p:spPr>
          <a:xfrm>
            <a:off x="9040320" y="3246120"/>
            <a:ext cx="109440" cy="1096920"/>
          </a:xfrm>
          <a:prstGeom prst="rect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42"/>
          <p:cNvSpPr/>
          <p:nvPr/>
        </p:nvSpPr>
        <p:spPr>
          <a:xfrm>
            <a:off x="9241560" y="337176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4e79"/>
                </a:solidFill>
                <a:latin typeface="Noto Sans CJK JP"/>
              </a:rPr>
              <a:t>2018- </a:t>
            </a:r>
            <a:r>
              <a:rPr b="1" lang="zh-CN" sz="1300" spc="-1" strike="noStrike">
                <a:solidFill>
                  <a:srgbClr val="1f4e79"/>
                </a:solidFill>
                <a:latin typeface="Noto Sans CJK JP"/>
              </a:rPr>
              <a:t>横河電機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3"/>
          <p:cNvSpPr/>
          <p:nvPr/>
        </p:nvSpPr>
        <p:spPr>
          <a:xfrm>
            <a:off x="9241560" y="3657600"/>
            <a:ext cx="2377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イノベーションセンター所属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→ </a:t>
            </a:r>
            <a:r>
              <a:rPr b="0" lang="en-US" sz="1000" spc="-1" strike="noStrike">
                <a:solidFill>
                  <a:srgbClr val="5a6a7a"/>
                </a:solidFill>
                <a:latin typeface="Noto Sans CJK JP"/>
              </a:rPr>
              <a:t>2025 </a:t>
            </a:r>
            <a:r>
              <a:rPr b="0" lang="zh-CN" sz="1000" spc="-1" strike="noStrike">
                <a:solidFill>
                  <a:srgbClr val="5a6a7a"/>
                </a:solidFill>
                <a:latin typeface="Noto Sans CJK JP"/>
              </a:rPr>
              <a:t>横河ソリューションサービス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44"/>
          <p:cNvSpPr/>
          <p:nvPr/>
        </p:nvSpPr>
        <p:spPr>
          <a:xfrm>
            <a:off x="365760" y="4892040"/>
            <a:ext cx="11429640" cy="1416960"/>
          </a:xfrm>
          <a:prstGeom prst="roundRect">
            <a:avLst>
              <a:gd name="adj" fmla="val 10000"/>
            </a:avLst>
          </a:prstGeom>
          <a:solidFill>
            <a:srgbClr val="16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45"/>
          <p:cNvSpPr/>
          <p:nvPr/>
        </p:nvSpPr>
        <p:spPr>
          <a:xfrm>
            <a:off x="640080" y="5029200"/>
            <a:ext cx="3657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zh-CN" sz="1200" spc="-1" strike="noStrike">
                <a:solidFill>
                  <a:srgbClr val="f2c94c"/>
                </a:solidFill>
                <a:latin typeface="Noto Sans CJK JP"/>
              </a:rPr>
              <a:t>年表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val 46"/>
          <p:cNvSpPr/>
          <p:nvPr/>
        </p:nvSpPr>
        <p:spPr>
          <a:xfrm>
            <a:off x="64008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47"/>
          <p:cNvSpPr/>
          <p:nvPr/>
        </p:nvSpPr>
        <p:spPr>
          <a:xfrm>
            <a:off x="91440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2011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8"/>
          <p:cNvSpPr/>
          <p:nvPr/>
        </p:nvSpPr>
        <p:spPr>
          <a:xfrm>
            <a:off x="91440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中国で大学卒業（材料科学）後に来日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日本語学校</a:t>
            </a:r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2</a:t>
            </a: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年 → 大学院進学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val 49"/>
          <p:cNvSpPr/>
          <p:nvPr/>
        </p:nvSpPr>
        <p:spPr>
          <a:xfrm>
            <a:off x="329184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50"/>
          <p:cNvSpPr/>
          <p:nvPr/>
        </p:nvSpPr>
        <p:spPr>
          <a:xfrm>
            <a:off x="356616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2018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51"/>
          <p:cNvSpPr/>
          <p:nvPr/>
        </p:nvSpPr>
        <p:spPr>
          <a:xfrm>
            <a:off x="356616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博士号取得、横河電機入社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イノベーションセンター（研究所）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Oval 52"/>
          <p:cNvSpPr/>
          <p:nvPr/>
        </p:nvSpPr>
        <p:spPr>
          <a:xfrm>
            <a:off x="594360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53"/>
          <p:cNvSpPr/>
          <p:nvPr/>
        </p:nvSpPr>
        <p:spPr>
          <a:xfrm>
            <a:off x="621792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2023</a:t>
            </a:r>
            <a:r>
              <a:rPr b="1" lang="zh-CN" sz="1300" spc="-1" strike="noStrike">
                <a:solidFill>
                  <a:srgbClr val="f2c94c"/>
                </a:solidFill>
                <a:latin typeface="Noto Sans CJK JP"/>
              </a:rPr>
              <a:t>後半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4"/>
          <p:cNvSpPr/>
          <p:nvPr/>
        </p:nvSpPr>
        <p:spPr>
          <a:xfrm>
            <a:off x="6217920" y="5623560"/>
            <a:ext cx="2331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PCP</a:t>
            </a: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様との協業開始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関連テーマとモデル活用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val 55"/>
          <p:cNvSpPr/>
          <p:nvPr/>
        </p:nvSpPr>
        <p:spPr>
          <a:xfrm>
            <a:off x="8595360" y="5349240"/>
            <a:ext cx="200880" cy="200880"/>
          </a:xfrm>
          <a:prstGeom prst="ellipse">
            <a:avLst/>
          </a:prstGeom>
          <a:solidFill>
            <a:srgbClr val="f2c9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56"/>
          <p:cNvSpPr/>
          <p:nvPr/>
        </p:nvSpPr>
        <p:spPr>
          <a:xfrm>
            <a:off x="8869680" y="5296680"/>
            <a:ext cx="2331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2c94c"/>
                </a:solidFill>
                <a:latin typeface="Noto Sans CJK JP"/>
              </a:rPr>
              <a:t>2025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7"/>
          <p:cNvSpPr/>
          <p:nvPr/>
        </p:nvSpPr>
        <p:spPr>
          <a:xfrm>
            <a:off x="8869680" y="5623560"/>
            <a:ext cx="2331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横河ソリューションサービスへ転籍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