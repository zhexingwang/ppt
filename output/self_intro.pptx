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lf_intro_infograph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36576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Noto Sans CJK JP"/>
              </a:rPr>
              <a:t>自己紹介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777240"/>
            <a:ext cx="493776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777240"/>
            <a:ext cx="4937760" cy="960120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4572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Noto Sans CJK JP"/>
              </a:rPr>
              <a:t>王 者興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4572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Noto Sans CJK JP"/>
              </a:rPr>
              <a:t>材料科学 × 化学工学 × プロセスシステム工学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914400"/>
            <a:ext cx="60350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1F4E79"/>
                </a:solidFill>
                <a:latin typeface="Noto Sans CJK JP"/>
              </a:rPr>
              <a:t>キャリアの歩み ─ 西安から日本、研究、そして協業へ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802739.5" y="2560320.0"/>
            <a:ext cx="8586216.0" cy="0.0"/>
          </a:xfrm>
          <a:prstGeom prst="line">
            <a:avLst/>
          </a:prstGeom>
          <a:ln w="28575">
            <a:solidFill>
              <a:srgbClr val="F2C9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391259" y="2148840"/>
            <a:ext cx="822960" cy="82296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91259" y="2331720"/>
            <a:ext cx="822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JP"/>
              </a:rPr>
              <a:t>01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3999" y="3200400"/>
            <a:ext cx="269748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3999" y="3200400"/>
            <a:ext cx="109728" cy="1188720"/>
          </a:xfrm>
          <a:prstGeom prst="rect">
            <a:avLst/>
          </a:prstGeom>
          <a:solidFill>
            <a:srgbClr val="F2C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167" y="3310128"/>
            <a:ext cx="2377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Noto Sans CJK JP"/>
              </a:rPr>
              <a:t>出身 中国・西安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167" y="3611880"/>
            <a:ext cx="2377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6A7A"/>
                </a:solidFill>
                <a:latin typeface="Noto Sans CJK JP"/>
              </a:rPr>
              <a:t>かつて「長安」と呼ばれた都市</a:t>
            </a:r>
          </a:p>
        </p:txBody>
      </p:sp>
      <p:sp>
        <p:nvSpPr>
          <p:cNvPr id="16" name="Oval 15"/>
          <p:cNvSpPr/>
          <p:nvPr/>
        </p:nvSpPr>
        <p:spPr>
          <a:xfrm>
            <a:off x="4253331" y="2148840"/>
            <a:ext cx="822960" cy="82296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53331" y="2331720"/>
            <a:ext cx="822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JP"/>
              </a:rPr>
              <a:t>02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16071" y="3200400"/>
            <a:ext cx="269748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16071" y="3200400"/>
            <a:ext cx="109728" cy="1188720"/>
          </a:xfrm>
          <a:prstGeom prst="rect">
            <a:avLst/>
          </a:prstGeom>
          <a:solidFill>
            <a:srgbClr val="F2C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17239" y="3310128"/>
            <a:ext cx="2377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Noto Sans CJK JP"/>
              </a:rPr>
              <a:t>2011 来日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17239" y="3611880"/>
            <a:ext cx="2377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6A7A"/>
                </a:solidFill>
                <a:latin typeface="Noto Sans CJK JP"/>
              </a:rPr>
              <a:t>材料科学で大学卒業後、
日本語学校で2年学び大学院へ</a:t>
            </a:r>
          </a:p>
        </p:txBody>
      </p:sp>
      <p:sp>
        <p:nvSpPr>
          <p:cNvPr id="22" name="Oval 21"/>
          <p:cNvSpPr/>
          <p:nvPr/>
        </p:nvSpPr>
        <p:spPr>
          <a:xfrm>
            <a:off x="7115403" y="2148840"/>
            <a:ext cx="822960" cy="82296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15403" y="2331720"/>
            <a:ext cx="822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JP"/>
              </a:rPr>
              <a:t>03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8143" y="3200400"/>
            <a:ext cx="269748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78143" y="3200400"/>
            <a:ext cx="109728" cy="1188720"/>
          </a:xfrm>
          <a:prstGeom prst="rect">
            <a:avLst/>
          </a:prstGeom>
          <a:solidFill>
            <a:srgbClr val="F2C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9311" y="3310128"/>
            <a:ext cx="2377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Noto Sans CJK JP"/>
              </a:rPr>
              <a:t>福岡大学大学院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9311" y="3611880"/>
            <a:ext cx="2377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6A7A"/>
                </a:solidFill>
                <a:latin typeface="Noto Sans CJK JP"/>
              </a:rPr>
              <a:t>工学研究科 化学工学・
プロセスシステム工学 / 野田賢 教授</a:t>
            </a:r>
          </a:p>
        </p:txBody>
      </p:sp>
      <p:sp>
        <p:nvSpPr>
          <p:cNvPr id="28" name="Oval 27"/>
          <p:cNvSpPr/>
          <p:nvPr/>
        </p:nvSpPr>
        <p:spPr>
          <a:xfrm>
            <a:off x="9977475" y="2148840"/>
            <a:ext cx="822960" cy="82296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77475" y="2331720"/>
            <a:ext cx="822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JP"/>
              </a:rPr>
              <a:t>04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40215" y="3200400"/>
            <a:ext cx="269748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040215" y="3200400"/>
            <a:ext cx="109728" cy="1188720"/>
          </a:xfrm>
          <a:prstGeom prst="rect">
            <a:avLst/>
          </a:prstGeom>
          <a:solidFill>
            <a:srgbClr val="F2C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41383" y="3310128"/>
            <a:ext cx="2377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Noto Sans CJK JP"/>
              </a:rPr>
              <a:t>2018- 横河電機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41383" y="3611880"/>
            <a:ext cx="2377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6A7A"/>
                </a:solidFill>
                <a:latin typeface="Noto Sans CJK JP"/>
              </a:rPr>
              <a:t>イノベーションセンター所属
→ 2025 横河ソリューションサービス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4892040"/>
            <a:ext cx="11430000" cy="1417320"/>
          </a:xfrm>
          <a:prstGeom prst="roundRect">
            <a:avLst>
              <a:gd name="adj" fmla="val 10000"/>
            </a:avLst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0292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2C94C"/>
                </a:solidFill>
                <a:latin typeface="Noto Sans CJK JP"/>
              </a:rPr>
              <a:t>年表</a:t>
            </a:r>
          </a:p>
        </p:txBody>
      </p:sp>
      <p:sp>
        <p:nvSpPr>
          <p:cNvPr id="36" name="Oval 35"/>
          <p:cNvSpPr/>
          <p:nvPr/>
        </p:nvSpPr>
        <p:spPr>
          <a:xfrm>
            <a:off x="640080" y="5349240"/>
            <a:ext cx="201168" cy="201168"/>
          </a:xfrm>
          <a:prstGeom prst="ellipse">
            <a:avLst/>
          </a:prstGeom>
          <a:solidFill>
            <a:srgbClr val="F2C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5303520"/>
            <a:ext cx="2331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2C94C"/>
                </a:solidFill>
                <a:latin typeface="Noto Sans CJK JP"/>
              </a:rPr>
              <a:t>2011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5623560"/>
            <a:ext cx="2331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Noto Sans CJK JP"/>
              </a:rPr>
              <a:t>中国で大学卒業（材料科学）後に来日
日本語学校2年 → 大学院進学</a:t>
            </a:r>
          </a:p>
        </p:txBody>
      </p:sp>
      <p:sp>
        <p:nvSpPr>
          <p:cNvPr id="39" name="Oval 38"/>
          <p:cNvSpPr/>
          <p:nvPr/>
        </p:nvSpPr>
        <p:spPr>
          <a:xfrm>
            <a:off x="3291840" y="5349240"/>
            <a:ext cx="201168" cy="201168"/>
          </a:xfrm>
          <a:prstGeom prst="ellipse">
            <a:avLst/>
          </a:prstGeom>
          <a:solidFill>
            <a:srgbClr val="F2C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66160" y="5303520"/>
            <a:ext cx="2331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2C94C"/>
                </a:solidFill>
                <a:latin typeface="Noto Sans CJK JP"/>
              </a:rPr>
              <a:t>2018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160" y="5623560"/>
            <a:ext cx="2331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Noto Sans CJK JP"/>
              </a:rPr>
              <a:t>博士号取得、横河電機入社
イノベーションセンター（研究所）</a:t>
            </a:r>
          </a:p>
        </p:txBody>
      </p:sp>
      <p:sp>
        <p:nvSpPr>
          <p:cNvPr id="42" name="Oval 41"/>
          <p:cNvSpPr/>
          <p:nvPr/>
        </p:nvSpPr>
        <p:spPr>
          <a:xfrm>
            <a:off x="5943600" y="5349240"/>
            <a:ext cx="201168" cy="201168"/>
          </a:xfrm>
          <a:prstGeom prst="ellipse">
            <a:avLst/>
          </a:prstGeom>
          <a:solidFill>
            <a:srgbClr val="F2C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17920" y="5303520"/>
            <a:ext cx="2331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2C94C"/>
                </a:solidFill>
                <a:latin typeface="Noto Sans CJK JP"/>
              </a:rPr>
              <a:t>2023後半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5623560"/>
            <a:ext cx="2331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Noto Sans CJK JP"/>
              </a:rPr>
              <a:t>PCP様との協業開始
関連テーマとモデル活用</a:t>
            </a:r>
          </a:p>
        </p:txBody>
      </p:sp>
      <p:sp>
        <p:nvSpPr>
          <p:cNvPr id="45" name="Oval 44"/>
          <p:cNvSpPr/>
          <p:nvPr/>
        </p:nvSpPr>
        <p:spPr>
          <a:xfrm>
            <a:off x="8595360" y="5349240"/>
            <a:ext cx="201168" cy="201168"/>
          </a:xfrm>
          <a:prstGeom prst="ellipse">
            <a:avLst/>
          </a:prstGeom>
          <a:solidFill>
            <a:srgbClr val="F2C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869680" y="5303520"/>
            <a:ext cx="2331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2C94C"/>
                </a:solidFill>
                <a:latin typeface="Noto Sans CJK JP"/>
              </a:rPr>
              <a:t>2025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69680" y="5623560"/>
            <a:ext cx="2331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Noto Sans CJK JP"/>
              </a:rPr>
              <a:t>横河ソリューションサービスへ転籍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