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lf_intro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CJK JP"/>
              </a:rPr>
              <a:t>自己紹介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685800"/>
            <a:ext cx="49377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685800"/>
            <a:ext cx="4937760" cy="86868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4572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Noto Sans CJK JP"/>
              </a:rPr>
              <a:t>王 者興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4572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Noto Sans CJK JP"/>
              </a:rPr>
              <a:t>材料科学 × 化学工学 × プロセスシステム工学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822960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F4E79"/>
                </a:solidFill>
                <a:latin typeface="Noto Sans CJK JP"/>
              </a:rPr>
              <a:t>キャリアの歩み ─ 西安から日本、研究、そして協業へ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2739" y="2379726"/>
            <a:ext cx="8586216" cy="41148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124047" y="2308860"/>
            <a:ext cx="219456" cy="182880"/>
          </a:xfrm>
          <a:prstGeom prst="rightArrow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986119" y="2308860"/>
            <a:ext cx="219456" cy="182880"/>
          </a:xfrm>
          <a:prstGeom prst="rightArrow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848191" y="2308860"/>
            <a:ext cx="219456" cy="182880"/>
          </a:xfrm>
          <a:prstGeom prst="rightArrow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22095" y="1819656"/>
            <a:ext cx="1234440" cy="1234440"/>
          </a:xfrm>
          <a:prstGeom prst="ellipse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xian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519" y="1783080"/>
            <a:ext cx="1234440" cy="123444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67231" y="1764792"/>
            <a:ext cx="292608" cy="292608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7231" y="17647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Noto Sans CJK JP"/>
              </a:rPr>
              <a:t>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3999" y="324612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3999" y="3246120"/>
            <a:ext cx="109728" cy="109728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167" y="3355848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Noto Sans CJK JP"/>
              </a:rPr>
              <a:t>出身 中国・西安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" y="36576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Noto Sans CJK JP"/>
              </a:rPr>
              <a:t>かつて「長安」と呼ばれた都市</a:t>
            </a:r>
          </a:p>
        </p:txBody>
      </p:sp>
      <p:sp>
        <p:nvSpPr>
          <p:cNvPr id="21" name="Oval 20"/>
          <p:cNvSpPr/>
          <p:nvPr/>
        </p:nvSpPr>
        <p:spPr>
          <a:xfrm>
            <a:off x="4084167" y="1819656"/>
            <a:ext cx="1234440" cy="1234440"/>
          </a:xfrm>
          <a:prstGeom prst="ellipse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_japan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591" y="1783080"/>
            <a:ext cx="1234440" cy="123444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4029303" y="1764792"/>
            <a:ext cx="292608" cy="292608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9303" y="17647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Noto Sans CJK JP"/>
              </a:rPr>
              <a:t>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6071" y="324612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6071" y="3246120"/>
            <a:ext cx="109728" cy="109728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7239" y="3355848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Noto Sans CJK JP"/>
              </a:rPr>
              <a:t>2011 来日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7239" y="36576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Noto Sans CJK JP"/>
              </a:rPr>
              <a:t>材料科学で大学卒業後、
日本語学校で2年学び大学院へ</a:t>
            </a:r>
          </a:p>
        </p:txBody>
      </p:sp>
      <p:sp>
        <p:nvSpPr>
          <p:cNvPr id="29" name="Oval 28"/>
          <p:cNvSpPr/>
          <p:nvPr/>
        </p:nvSpPr>
        <p:spPr>
          <a:xfrm>
            <a:off x="6946239" y="1819656"/>
            <a:ext cx="1234440" cy="1234440"/>
          </a:xfrm>
          <a:prstGeom prst="ellipse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_lab_p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663" y="1783080"/>
            <a:ext cx="1234440" cy="1234440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6891375" y="1764792"/>
            <a:ext cx="292608" cy="292608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91375" y="17647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Noto Sans CJK JP"/>
              </a:rPr>
              <a:t>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8143" y="324612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8143" y="3246120"/>
            <a:ext cx="109728" cy="109728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9311" y="3355848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Noto Sans CJK JP"/>
              </a:rPr>
              <a:t>福岡大学大学院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9311" y="36576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Noto Sans CJK JP"/>
              </a:rPr>
              <a:t>工学研究科 化学工学・
プロセスシステム工学 / 野田賢 教授</a:t>
            </a:r>
          </a:p>
        </p:txBody>
      </p:sp>
      <p:sp>
        <p:nvSpPr>
          <p:cNvPr id="37" name="Oval 36"/>
          <p:cNvSpPr/>
          <p:nvPr/>
        </p:nvSpPr>
        <p:spPr>
          <a:xfrm>
            <a:off x="9808311" y="1819656"/>
            <a:ext cx="1234440" cy="1234440"/>
          </a:xfrm>
          <a:prstGeom prst="ellipse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on_yokogawa_p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1735" y="1783080"/>
            <a:ext cx="1234440" cy="1234440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9753447" y="1764792"/>
            <a:ext cx="292608" cy="292608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53447" y="17647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Noto Sans CJK JP"/>
              </a:rPr>
              <a:t>04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40215" y="324612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40215" y="3246120"/>
            <a:ext cx="109728" cy="109728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41383" y="3355848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Noto Sans CJK JP"/>
              </a:rPr>
              <a:t>2018- 横河電機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1383" y="36576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Noto Sans CJK JP"/>
              </a:rPr>
              <a:t>イノベーションセンター所属
→ 2025 横河ソリューションサービス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4892040"/>
            <a:ext cx="11430000" cy="1417320"/>
          </a:xfrm>
          <a:prstGeom prst="roundRect">
            <a:avLst>
              <a:gd name="adj" fmla="val 10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0292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C94C"/>
                </a:solidFill>
                <a:latin typeface="Noto Sans CJK JP"/>
              </a:rPr>
              <a:t>年表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" y="5349240"/>
            <a:ext cx="201168" cy="201168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303520"/>
            <a:ext cx="2331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C94C"/>
                </a:solidFill>
                <a:latin typeface="Noto Sans CJK JP"/>
              </a:rPr>
              <a:t>2011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623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>中国で大学卒業（材料科学）後に来日
日本語学校2年 → 大学院進学</a:t>
            </a:r>
          </a:p>
        </p:txBody>
      </p:sp>
      <p:sp>
        <p:nvSpPr>
          <p:cNvPr id="50" name="Oval 49"/>
          <p:cNvSpPr/>
          <p:nvPr/>
        </p:nvSpPr>
        <p:spPr>
          <a:xfrm>
            <a:off x="3291840" y="5349240"/>
            <a:ext cx="201168" cy="201168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66160" y="5303520"/>
            <a:ext cx="2331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C94C"/>
                </a:solidFill>
                <a:latin typeface="Noto Sans CJK JP"/>
              </a:rPr>
              <a:t>2018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160" y="5623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>博士号取得、横河電機入社
イノベーションセンター（研究所）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0" y="5349240"/>
            <a:ext cx="201168" cy="201168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5303520"/>
            <a:ext cx="2331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C94C"/>
                </a:solidFill>
                <a:latin typeface="Noto Sans CJK JP"/>
              </a:rPr>
              <a:t>2023後半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623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>PCP様との協業開始
関連テーマとモデル活用</a:t>
            </a:r>
          </a:p>
        </p:txBody>
      </p:sp>
      <p:sp>
        <p:nvSpPr>
          <p:cNvPr id="56" name="Oval 55"/>
          <p:cNvSpPr/>
          <p:nvPr/>
        </p:nvSpPr>
        <p:spPr>
          <a:xfrm>
            <a:off x="8595360" y="5349240"/>
            <a:ext cx="201168" cy="201168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0" y="5303520"/>
            <a:ext cx="2331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C94C"/>
                </a:solidFill>
                <a:latin typeface="Noto Sans CJK JP"/>
              </a:rPr>
              <a:t>2025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623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>横河ソリューションサービスへ転籍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